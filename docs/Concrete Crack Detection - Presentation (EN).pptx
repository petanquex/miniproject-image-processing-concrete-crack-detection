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018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1] Hello, today we present our project: Concrete Crack Detection using traditional image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1] Motivated by the earthquake; cracks are an early warning sign, but manual inspection is slow and inconsistent.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1] Goal: separate real cracks from normal texture, using traditional IP only, tested on 118 CrackForest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2] Four-step pipeline; steps 3-4 mainly clean up the noise that step 2 picks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2] Walk through each step: pre-processing, adaptive threshold, morphology, shape analysis. Parameters from grid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Pixel-level evaluation, separate train/test, and no accuracy because the data is imbalanced.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Explain the metrics: count TP/FP/FN per pixel. Precision = how much of what we predicted is right, Recall = how much of the real cracks we found, IoU/Dice combine both into one overlap score. Dice is the headline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Headline Dice 0.5024 from 0.3201; the big change is precision more than doubling.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Adaptive beats the others on 102/118 images because edge and Otsu are fooled by texture and shadows.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Walk through the tuning rounds: baseline is guessed and low-precision; round 1's first grid search lifts precision; round 2 widens the grid and lets morphology be skipped so recall recovers; round 3 fixes the area count, switches to circularity, and adds the train/held-out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3] Good and failing cases; some failures are ground-truth issues, not the system's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[Member 1] Future work toward Edge AI / drones; the pipeline is fast enough. Conclusion and thanks.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55448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flipV="1">
            <a:off x="310896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66344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621792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9326880" y="44348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881360" y="4892040"/>
            <a:ext cx="1554480" cy="365760"/>
          </a:xfrm>
          <a:prstGeom prst="line">
            <a:avLst/>
          </a:prstGeom>
          <a:noFill/>
          <a:ln w="381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PROCESSING · MINI PROJECT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Concrete Crack Detection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structural cracks with traditional image processing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r>
              <a:rPr lang="th-TH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ราชสีห์</a:t>
            </a:r>
            <a:endParaRPr lang="en-US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Motivation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760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year's earthquake affecting Thailand put the safety of buildings and infrastructure in focus. Cracks on concrete walls and columns are one of the earliest warning signs of structural deterioration.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1874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86600" y="2148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866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26680" y="1984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slow
</a:t>
            </a: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or hard-to-reach areas take time and cost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0" y="3017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086600" y="3291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0866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26680" y="3127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by inspector
</a:t>
            </a: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depends on individual experience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0" y="41605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086600" y="443484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866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26680" y="4270248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screening aid
</a:t>
            </a: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computer flag where to re-check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Scope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 cracks on concrete and separate real structural cracks from normal rough texture, pores, or stains.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96265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285292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31012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image processing only (OpenCV). No deep learning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265176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2962656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285292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310128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CrackForest, 118 images 480×320 with pixel-level ground truth (converted from .mat to PNG)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314700" y="4425696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589020" y="4736592"/>
            <a:ext cx="128016" cy="128016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17620" y="462686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589020" y="5084064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grading, real-world width in mm, and real-time video processing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Overview (4 Steps)</a:t>
            </a:r>
            <a:endParaRPr lang="en-US" sz="3200" dirty="0"/>
          </a:p>
        </p:txBody>
      </p:sp>
      <p:pic>
        <p:nvPicPr>
          <p:cNvPr id="4" name="Image 0" descr="/sessions/eager-charming-feynman/mnt/MiniProject/docs/figures/pipeline_st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906" y="1361872"/>
            <a:ext cx="10117708" cy="33015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Gray → contrast → Adaptive Threshold (still noisy) → Morphology → shape filter → final,  vs. ground truth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25730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5730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Pre-processing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Grayscale, Gaussian blur, CLAHE contrast so dark cracks stand 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9008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2910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2910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Threshold compares each pixel to its </a:t>
            </a:r>
            <a:r>
              <a:rPr lang="en-US" sz="1300" dirty="0" err="1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</a:t>
            </a: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robust to uneven light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188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20090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20090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Morphological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reconnects broken cracks; Opening removes small noise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33688" y="3374136"/>
            <a:ext cx="237744" cy="292608"/>
          </a:xfrm>
          <a:prstGeom prst="rightArrow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189720" y="1737360"/>
            <a:ext cx="2697480" cy="356616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BBBBBB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172700" y="2057400"/>
            <a:ext cx="731520" cy="7315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172700" y="2057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726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Analysis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56616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area + circularity; keep thin lines, drop round blobs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23157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807205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07205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560317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
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fitted on 59 images, then scored on 59 unseen images. The gap is only 0.001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840477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224525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24525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977637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good AND stable
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training set into 5 folds and choose the max of (mean − std) to avoid flukes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257797"/>
            <a:ext cx="108813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4641845"/>
            <a:ext cx="475488" cy="475488"/>
          </a:xfrm>
          <a:prstGeom prst="ellipse">
            <a:avLst/>
          </a:prstGeom>
          <a:solidFill>
            <a:srgbClr val="2E33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4641845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394957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Accuracy
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are only 2.29% of pixels; predicting "no crack" already scores 0.977 — use IoU and Dice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per pixel: predicted mask vs. ground truth</a:t>
            </a:r>
            <a:endParaRPr lang="en-US" sz="1500" dirty="0"/>
          </a:p>
        </p:txBody>
      </p:sp>
      <p:pic>
        <p:nvPicPr>
          <p:cNvPr id="4" name="Image 0" descr="/sessions/eager-charming-feynman/mnt/MiniProject/docs/figures/metric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57" y="1737360"/>
            <a:ext cx="5614165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0292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correct   </a:t>
            </a:r>
            <a:r>
              <a:rPr lang="en-US" sz="1400" b="1" dirty="0">
                <a:solidFill>
                  <a:srgbClr val="B56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over-predicted   </a:t>
            </a:r>
            <a:r>
              <a:rPr lang="en-US" sz="1400" b="1" dirty="0">
                <a:solidFill>
                  <a:srgbClr val="2E5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missed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54406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118 real images:  TP 180,802 · FP 171,802 · FN 233,636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0" y="1737360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629400" y="18470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629400" y="2240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1828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29400" y="24140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predicted crack pixels, how many are correct (cuts false alarms)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2862072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9400" y="2971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29400" y="336499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326880" y="295351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629400" y="353872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crack pixels, how many were found (cuts misses)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3986784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629400" y="409651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IoU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629400" y="448970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 + FN)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326880" y="407822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629400" y="4663440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of the two areas · the segmentation standard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0" y="5111496"/>
            <a:ext cx="5120640" cy="1024128"/>
          </a:xfrm>
          <a:prstGeom prst="roundRect">
            <a:avLst>
              <a:gd name="adj" fmla="val 5357"/>
            </a:avLst>
          </a:prstGeom>
          <a:solidFill>
            <a:srgbClr val="FBEEDD"/>
          </a:solidFill>
          <a:ln w="127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629400" y="52212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567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Dice (F1)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629400" y="561441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2·TP / (2·TP + FP + FN)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326880" y="52029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B567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629400" y="5788152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P &amp; R · the headline number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(F1)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0.5024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0.3201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2900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2900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0.3533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0.2051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0.5273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1792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0.2479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06840" y="1737360"/>
            <a:ext cx="26517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0684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06840" y="2240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0.5732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006840" y="29077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0.5982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566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Dice progression across tuning rounds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881360" cy="19202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56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more than doubled — the system stopped calling plain texture a crack, while Recall barely dropped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Compared to Other Methods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5577840" cy="22860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(held-out)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(118)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171,802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463,628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Otsu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1,457,995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5577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2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Canny &amp; Sobel respond to sudden brightness changes — everywhere on pavement from asphalt texture, stain edges and shadows. Otsu uses one global threshold, so it grabs shadows as cracks. Adaptive asks the more specific question: is this pixel darker than its neighbours?</a:t>
            </a:r>
            <a:endParaRPr lang="en-US" sz="1400" dirty="0"/>
          </a:p>
        </p:txBody>
      </p:sp>
      <p:pic>
        <p:nvPicPr>
          <p:cNvPr id="6" name="Image 0" descr="/sessions/eager-charming-feynman/mnt/MiniProject/docs/figures/metho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0325"/>
            <a:ext cx="5120640" cy="2480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Round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824050"/>
              </p:ext>
            </p:extLst>
          </p:nvPr>
        </p:nvGraphicFramePr>
        <p:xfrm>
          <a:off x="640080" y="1920240"/>
          <a:ext cx="10881360" cy="4343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changed / 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 set by hand, no search yet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grid search over block_size, C, morphology kernels and </a:t>
                      </a:r>
                      <a:r>
                        <a:rPr lang="en-US" sz="1300" dirty="0" err="1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Widened the grid (round 1 hit the edges) and allowed skipping a morphological 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567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6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counted as true pixel count, shape criterion changed from aspect ratio to circularity, and a train/test split picks the "good and stable" set (gap only 0.001)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6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· ground truth · prediction · overlay</a:t>
            </a:r>
            <a:endParaRPr lang="en-US" sz="1500" dirty="0"/>
          </a:p>
        </p:txBody>
      </p:sp>
      <p:pic>
        <p:nvPicPr>
          <p:cNvPr id="4" name="Image 0" descr="/sessions/eager-charming-feynman/mnt/MiniProject/docs/figures/success_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728" y="1756079"/>
            <a:ext cx="4291579" cy="40935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79" y="576811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— clear crack contrast and a uniform background</a:t>
            </a:r>
            <a:endParaRPr lang="en-US" sz="1200" dirty="0"/>
          </a:p>
        </p:txBody>
      </p:sp>
      <p:pic>
        <p:nvPicPr>
          <p:cNvPr id="6" name="Image 1" descr="/sessions/eager-charming-feynman/mnt/MiniProject/docs/figures/failure_c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738" y="1691640"/>
            <a:ext cx="4379534" cy="41774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59" y="575838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56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scores — some are ground-truth issues, not detection errors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33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">
            <a:extLst>
              <a:ext uri="{FF2B5EF4-FFF2-40B4-BE49-F238E27FC236}">
                <a16:creationId xmlns:a16="http://schemas.microsoft.com/office/drawing/2014/main" id="{3FF8DC1C-BB3A-1ECA-43D2-67C1A4A82D01}"/>
              </a:ext>
            </a:extLst>
          </p:cNvPr>
          <p:cNvSpPr/>
          <p:nvPr/>
        </p:nvSpPr>
        <p:spPr>
          <a:xfrm>
            <a:off x="7900805" y="2272381"/>
            <a:ext cx="3306626" cy="2313237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C41723E4-E0E2-EB85-7307-FD83A3FD29AE}"/>
              </a:ext>
            </a:extLst>
          </p:cNvPr>
          <p:cNvSpPr/>
          <p:nvPr/>
        </p:nvSpPr>
        <p:spPr>
          <a:xfrm>
            <a:off x="4422194" y="2272382"/>
            <a:ext cx="3306626" cy="2313237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731520" y="548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&amp; 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49808" y="1371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runs at 7.0 ms/image (143 img/s). Light enough for small hardware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43583" y="2272383"/>
            <a:ext cx="3306626" cy="2313237"/>
          </a:xfrm>
          <a:prstGeom prst="roundRect">
            <a:avLst>
              <a:gd name="adj" fmla="val 3182"/>
            </a:avLst>
          </a:prstGeom>
          <a:solidFill>
            <a:srgbClr val="3A4046"/>
          </a:solidFill>
          <a:ln w="12700">
            <a:solidFill>
              <a:srgbClr val="4E5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17903" y="2546704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17903" y="254670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17903" y="323250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 Edge 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17902" y="3689704"/>
            <a:ext cx="2555651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to run on ESP32/FPGA with inspection drones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5580" y="2540382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5580" y="254038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88440" y="321256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width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88439" y="3689704"/>
            <a:ext cx="244212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millimetres to grade crack severity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4580" y="2546704"/>
            <a:ext cx="594360" cy="59436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94580" y="2544273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094580" y="3227645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indoor concrete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94579" y="3689704"/>
            <a:ext cx="240156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BD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data is road surface, harder than the brief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1129</Words>
  <Application>Microsoft Office PowerPoint</Application>
  <PresentationFormat>Widescreen</PresentationFormat>
  <Paragraphs>183</Paragraphs>
  <Slides>12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KASIDID PUANGTO</cp:lastModifiedBy>
  <cp:revision>3</cp:revision>
  <dcterms:created xsi:type="dcterms:W3CDTF">2026-09-22T05:36:47Z</dcterms:created>
  <dcterms:modified xsi:type="dcterms:W3CDTF">2026-09-22T07:22:03Z</dcterms:modified>
</cp:coreProperties>
</file>