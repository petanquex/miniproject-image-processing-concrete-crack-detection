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9" d="100"/>
          <a:sy n="79" d="100"/>
        </p:scale>
        <p:origin x="74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143081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[สมาชิก 1] สวัสดีครับ/ค่ะ วันนี้นำเสนอโปรเจกต์ระบบตรวจจับรอยร้าวบนพื้นผิวคอนกรีต ด้วยการประมวลผลภาพแบบดั้งเดิม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[สมาชิก 1] ที่มาจากแผ่นดินไหว รอยร้าวเป็นสัญญาณเตือนแรก แต่ตรวจด้วยคนช้าและขึ้นกับประสบการณ์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[สมาชิก 1] จุดประสงค์คือแยกรอยร้าวจริงจากพื้นผิวปกติ ใช้ traditional IP ล้วน ทดสอบบน CrackForest 118 ภาพ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[สมาชิก 2] ไปป์ไลน์ 4 ขั้น จะเห็นว่าขั้น 3-4 ทำหน้าที่กำจัด noise ที่ขั้น 2 ติดมา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[สมาชิก 2] อธิบายแต่ละขั้น: pre-processing, adaptive threshold, morphology, shape analysis พารามิเตอร์มาจาก grid search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[สมาชิก 3] วัดผลระดับพิกเซล แยกภาพฝึกกับภาพทดสอบ และไม่ใช้ accuracy เพราะข้อมูลไม่สมดุล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[สมาชิก 3] อธิบายตัวชี้วัด: นับ TP/FP/FN ทีละพิกเซล  Precision = ถูกจริงกี่ % ของที่ทาย, Recall = จับได้กี่ % ของจริง, IoU = ความซ้อนทับ, Dice = เลขหลักที่รายงาน สองตัวแรกบอกมั่ว/พลาดแยกกัน สองตัวหลังรวมเป็นตัวเดียว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[สมาชิก 3] ผลหลัก Dice 0.5024 จาก 0.3201 จุดที่เปลี่ยนมากคือ precision ที่เพิ่มเท่าตัว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[สมาชิก 3] Adaptive ชนะวิธีอื่น 102/118 ภาพ เพราะ edge และ otsu ไวต่อ texture และเงา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[สมาชิก 2] บทเรียน: เกณฑ์ aspect ratio เดิมตัดรอยร้าวโค้งทิ้ง เปลี่ยนเป็น circularity ดีขึ้นชัด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[สมาชิก 3] ตัวอย่างผลดีและล้มเหลว บางกรณีเป็นปัญหาของภาพเฉลยเอง ไม่ใช่ของระบบ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[สมาชิก 1] ต่อยอดสู่ Edge AI/โดรน ไปป์ไลน์เร็วพอ และสรุปผลงาน ขอบคุณครับ/ค่ะ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33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0" y="4434840"/>
            <a:ext cx="1554480" cy="365760"/>
          </a:xfrm>
          <a:prstGeom prst="line">
            <a:avLst/>
          </a:prstGeom>
          <a:noFill/>
          <a:ln w="38100">
            <a:solidFill>
              <a:srgbClr val="E887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554480" y="4892040"/>
            <a:ext cx="1554480" cy="365760"/>
          </a:xfrm>
          <a:prstGeom prst="line">
            <a:avLst/>
          </a:prstGeom>
          <a:noFill/>
          <a:ln w="38100">
            <a:solidFill>
              <a:srgbClr val="E887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 flipV="1">
            <a:off x="3108960" y="4434840"/>
            <a:ext cx="1554480" cy="365760"/>
          </a:xfrm>
          <a:prstGeom prst="line">
            <a:avLst/>
          </a:prstGeom>
          <a:noFill/>
          <a:ln w="38100">
            <a:solidFill>
              <a:srgbClr val="E887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663440" y="4892040"/>
            <a:ext cx="1554480" cy="365760"/>
          </a:xfrm>
          <a:prstGeom prst="line">
            <a:avLst/>
          </a:prstGeom>
          <a:noFill/>
          <a:ln w="38100">
            <a:solidFill>
              <a:srgbClr val="E887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 flipV="1">
            <a:off x="6217920" y="4434840"/>
            <a:ext cx="1554480" cy="365760"/>
          </a:xfrm>
          <a:prstGeom prst="line">
            <a:avLst/>
          </a:prstGeom>
          <a:noFill/>
          <a:ln w="38100">
            <a:solidFill>
              <a:srgbClr val="E887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772400" y="4892040"/>
            <a:ext cx="1554480" cy="365760"/>
          </a:xfrm>
          <a:prstGeom prst="line">
            <a:avLst/>
          </a:prstGeom>
          <a:noFill/>
          <a:ln w="38100">
            <a:solidFill>
              <a:srgbClr val="E887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 flipV="1">
            <a:off x="9326880" y="4434840"/>
            <a:ext cx="1554480" cy="365760"/>
          </a:xfrm>
          <a:prstGeom prst="line">
            <a:avLst/>
          </a:prstGeom>
          <a:noFill/>
          <a:ln w="38100">
            <a:solidFill>
              <a:srgbClr val="E887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0881360" y="4892040"/>
            <a:ext cx="1554480" cy="365760"/>
          </a:xfrm>
          <a:prstGeom prst="line">
            <a:avLst/>
          </a:prstGeom>
          <a:noFill/>
          <a:ln w="38100">
            <a:solidFill>
              <a:srgbClr val="E887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31520" y="9144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E8871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IMAGE PROCESSING · MINI PROJECT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1463040"/>
            <a:ext cx="10698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ระบบตรวจจับรอยร้าวบนพื้นผิวคอนกรีต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731520" y="26517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BD1D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ตรวจจับรอยร้าวเชิงโครงสร้างด้วยการประมวลผลภาพแบบดั้งเดิม (ไม่ใช้ Deep Learning) วัดผลบน CrackForest 118 ภาพ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31520" y="5852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AA3A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นำเสนอโดย  </a:t>
            </a: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สมาชิก 1  ·  สมาชิก 2  ·  สมาชิก 3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629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ปัญหาและแรงบันดาลใจ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170432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77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ทำไมต้องตรวจจับรอยร้าวอัตโนมัติ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1920240"/>
            <a:ext cx="57607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629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หตุการณ์แผ่นดินไหวที่กระทบประเทศไทยทำให้ความปลอดภัยของอาคารและโครงสร้างพื้นฐานถูกให้ความสำคัญมากขึ้น รอยร้าวบนคอนกรีตเป็นสัญญาณเตือนแรกสุดของการเสื่อมสภาพเชิงโครงสร้าง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858000" y="187452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blurRad="76200" dist="25400" dir="5400000" algn="bl" rotWithShape="0">
              <a:srgbClr val="BBBBBB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086600" y="2148840"/>
            <a:ext cx="457200" cy="457200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086600" y="2148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26680" y="1984248"/>
            <a:ext cx="3611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22629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ตรวจด้วยสายตา ช้าและแพง
</a:t>
            </a:r>
            <a:r>
              <a:rPr lang="en-US" sz="1200" dirty="0">
                <a:solidFill>
                  <a:srgbClr val="5B677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พื้นที่ใหญ่หรือจุดเข้าถึงยาก ใช้เวลานาน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858000" y="301752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blurRad="76200" dist="25400" dir="5400000" algn="bl" rotWithShape="0">
              <a:srgbClr val="BBBBBB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086600" y="3291840"/>
            <a:ext cx="457200" cy="457200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086600" y="3291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726680" y="3127248"/>
            <a:ext cx="3611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22629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ผลขึ้นกับคน
</a:t>
            </a:r>
            <a:r>
              <a:rPr lang="en-US" sz="1200" dirty="0">
                <a:solidFill>
                  <a:srgbClr val="5B677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ความแม่นยำต่างกันตามประสบการณ์ผู้ตรวจ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0" y="416052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blurRad="76200" dist="25400" dir="5400000" algn="bl" rotWithShape="0">
              <a:srgbClr val="BBBBBB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086600" y="4434840"/>
            <a:ext cx="457200" cy="457200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086600" y="4434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726680" y="4270248"/>
            <a:ext cx="3611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22629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ต้องการตัวช่วยคัดกรอง
</a:t>
            </a:r>
            <a:r>
              <a:rPr lang="en-US" sz="1200" dirty="0">
                <a:solidFill>
                  <a:srgbClr val="5B677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ให้คอมพิวเตอร์ชี้จุดที่ควรตรวจซ้ำ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629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จุดประสงค์และขอบเขต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2E333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103327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8871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จุดประสงค์   </a:t>
            </a:r>
            <a:r>
              <a:rPr lang="en-US" sz="1600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ตรวจจับรอยร้าวบนคอนกรีตอัตโนมัติ และแยกรอยร้าวจริงออกจากผิวขรุขระ รูพรุน หรือรอยเปื้อน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534924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14400" y="3054096"/>
            <a:ext cx="128016" cy="128016"/>
          </a:xfrm>
          <a:prstGeom prst="rect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143000" y="2944368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629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เทคนิค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401568"/>
            <a:ext cx="4800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77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Traditional Image Processing ล้วน (OpenCV) ไม่ใช้ Deep Learning เพื่อพิสูจน์ลอจิกทางคณิตศาสตร์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172200" y="2743200"/>
            <a:ext cx="534924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446520" y="3054096"/>
            <a:ext cx="128016" cy="128016"/>
          </a:xfrm>
          <a:prstGeom prst="rect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675120" y="2944368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629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ข้อมูล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46520" y="3401568"/>
            <a:ext cx="4800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77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CrackForest 118 ภาพ 480×320 มีภาพเฉลยระดับพิกเซล (แปลงจาก .mat เป็น PNG)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4526280"/>
            <a:ext cx="534924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914400" y="4837176"/>
            <a:ext cx="128016" cy="128016"/>
          </a:xfrm>
          <a:prstGeom prst="rect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143000" y="4727448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629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การแบ่งงาน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14400" y="5184648"/>
            <a:ext cx="4800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77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คน 1 เตรียมภาพ · คน 2 อัลกอริทึม+จูน · คน 3 วัดผล+สรุป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172200" y="4526280"/>
            <a:ext cx="534924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446520" y="4837176"/>
            <a:ext cx="128016" cy="128016"/>
          </a:xfrm>
          <a:prstGeom prst="rect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675120" y="4727448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629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นอกขอบเขต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446520" y="5184648"/>
            <a:ext cx="4800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77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ประเมินความรุนแรง วัดความกว้างจริง และงานวิดีโอเรียลไทม์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629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ภาพรวมไปป์ไลน์ 4 ขั้นตอน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170432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77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จากภาพถ่าย → mask รอยร้าวที่สะอาด</a:t>
            </a:r>
            <a:endParaRPr lang="en-US" sz="1500" dirty="0"/>
          </a:p>
        </p:txBody>
      </p:sp>
      <p:pic>
        <p:nvPicPr>
          <p:cNvPr id="4" name="Image 0" descr="/sessions/eager-charming-feynman/mnt/MiniProject/docs/figures/pipeline_stag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360" y="1828800"/>
            <a:ext cx="8686800" cy="2834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48463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B5670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เทา → ปรับ contrast → Adaptive Threshold (ยังมี noise) → Morphology → กรองรูปทรง → ผลสุดท้าย  เทียบภาพเฉลย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53492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77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รูปที่ 1 — ผลของแต่ละขั้น (ภาพ 001 แถวบน, 074 แถวล่าง)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629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รายละเอียดแต่ละขั้นตอน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737360"/>
            <a:ext cx="2697480" cy="356616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blurRad="76200" dist="25400" dir="5400000" algn="bl" rotWithShape="0">
              <a:srgbClr val="BBBBBB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623060" y="2057400"/>
            <a:ext cx="731520" cy="731520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623060" y="20574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297180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22629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Pre-processing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3566160"/>
            <a:ext cx="22402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5B677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เทา, Gaussian blur, เพิ่ม contrast ด้วย CLAHE ให้รอยร้าวเข้มตัดกับพื้น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55848" y="3374136"/>
            <a:ext cx="237744" cy="292608"/>
          </a:xfrm>
          <a:prstGeom prst="rightArrow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611880" y="1737360"/>
            <a:ext cx="2697480" cy="356616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blurRad="76200" dist="25400" dir="5400000" algn="bl" rotWithShape="0">
              <a:srgbClr val="BBBBBB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94860" y="2057400"/>
            <a:ext cx="731520" cy="731520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94860" y="20574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794760" y="297180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22629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Segmentation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840480" y="3566160"/>
            <a:ext cx="22402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5B677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Adaptive Threshold เทียบพิกเซลกับเพื่อนบ้าน ทนแสงไม่สม่ำเสมอ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327648" y="3374136"/>
            <a:ext cx="237744" cy="292608"/>
          </a:xfrm>
          <a:prstGeom prst="rightArrow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583680" y="1737360"/>
            <a:ext cx="2697480" cy="356616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blurRad="76200" dist="25400" dir="5400000" algn="bl" rotWithShape="0">
              <a:srgbClr val="BBBBBB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566660" y="2057400"/>
            <a:ext cx="731520" cy="731520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566660" y="20574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766560" y="297180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22629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Morphological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812280" y="3566160"/>
            <a:ext cx="22402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5B677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Closing เชื่อมรอยที่ขาด, Opening ลบ noise เล็ก ๆ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299448" y="3374136"/>
            <a:ext cx="237744" cy="292608"/>
          </a:xfrm>
          <a:prstGeom prst="rightArrow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9555480" y="1737360"/>
            <a:ext cx="2697480" cy="356616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blurRad="76200" dist="25400" dir="5400000" algn="bl" rotWithShape="0">
              <a:srgbClr val="BBBBBB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0538460" y="2057400"/>
            <a:ext cx="731520" cy="731520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0538460" y="20574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9738360" y="297180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22629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Shape Analysis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784080" y="3566160"/>
            <a:ext cx="22402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5B677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กรองด้วยพื้นที่ + circularity เก็บเฉพาะเส้นเรียว ทิ้งจุดกลม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0080" y="55778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B5670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พารามิเตอร์ทุกค่าได้จาก grid search ไม่ได้ตั้งด้วยการเดา (เก็บใน outputs/tuned_params.json)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629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วิธีวัดผลให้เชื่อถือได้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170432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77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วัดระดับพิกเซล + แยกภาพฝึกกับภาพทดสอบ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88136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14400" y="2167128"/>
            <a:ext cx="475488" cy="475488"/>
          </a:xfrm>
          <a:prstGeom prst="ellipse">
            <a:avLst/>
          </a:prstGeom>
          <a:solidFill>
            <a:srgbClr val="2E333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216712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871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00200" y="1920240"/>
            <a:ext cx="96926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222629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แยก train / held-out
</a:t>
            </a:r>
            <a:r>
              <a:rPr lang="en-US" sz="1400" dirty="0">
                <a:solidFill>
                  <a:srgbClr val="5B677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ค้นหาพารามิเตอร์จาก 59 ภาพ แล้ววัดผลบนอีก 59 ภาพที่ไม่เคยเห็น ช่องว่างเหลือเพียง 0.001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200400"/>
            <a:ext cx="1088136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914400" y="3584448"/>
            <a:ext cx="475488" cy="475488"/>
          </a:xfrm>
          <a:prstGeom prst="ellipse">
            <a:avLst/>
          </a:prstGeom>
          <a:solidFill>
            <a:srgbClr val="2E333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14400" y="358444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871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00200" y="3337560"/>
            <a:ext cx="96926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222629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เลือกที่ดีและนิ่ง
</a:t>
            </a:r>
            <a:r>
              <a:rPr lang="en-US" sz="1400" dirty="0">
                <a:solidFill>
                  <a:srgbClr val="5B677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แบ่งภาพฝึกเป็น 5 กลุ่ม เลือกชุด (ค่าเฉลี่ย − ส่วนเบี่ยงเบน) สูงสุด กันผลฟลุก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40080" y="4617720"/>
            <a:ext cx="1088136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914400" y="5001768"/>
            <a:ext cx="475488" cy="475488"/>
          </a:xfrm>
          <a:prstGeom prst="ellipse">
            <a:avLst/>
          </a:prstGeom>
          <a:solidFill>
            <a:srgbClr val="2E333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14400" y="500176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871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00200" y="4754880"/>
            <a:ext cx="96926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222629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ไม่ใช้ Accuracy
</a:t>
            </a:r>
            <a:r>
              <a:rPr lang="en-US" sz="1400" dirty="0">
                <a:solidFill>
                  <a:srgbClr val="5B677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รอยร้าวมีแค่ 2.29% ตอบ "ไม่มีรอยร้าว" ทุกพิกเซลก็ได้ 0.977 — ใช้ IoU และ Dice แทน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hape 14">
            <a:extLst>
              <a:ext uri="{FF2B5EF4-FFF2-40B4-BE49-F238E27FC236}">
                <a16:creationId xmlns:a16="http://schemas.microsoft.com/office/drawing/2014/main" id="{4E08B674-E127-18B1-DD92-5C442939B885}"/>
              </a:ext>
            </a:extLst>
          </p:cNvPr>
          <p:cNvSpPr/>
          <p:nvPr/>
        </p:nvSpPr>
        <p:spPr>
          <a:xfrm>
            <a:off x="6400800" y="5120640"/>
            <a:ext cx="51206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Text 0"/>
          <p:cNvSpPr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629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ตัวชี้วัดที่ใช้วัดผล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170432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77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วัดทีละพิกเซล เทียบ mask ที่ทายกับภาพเฉลย</a:t>
            </a:r>
            <a:endParaRPr lang="en-US" sz="1500" dirty="0"/>
          </a:p>
        </p:txBody>
      </p:sp>
      <p:pic>
        <p:nvPicPr>
          <p:cNvPr id="4" name="Image 0" descr="/sessions/eager-charming-feynman/mnt/MiniProject/docs/figures/metric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757" y="1737360"/>
            <a:ext cx="5614165" cy="32918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029200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5A3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TP</a:t>
            </a:r>
            <a:r>
              <a:rPr lang="en-US" sz="1400" dirty="0">
                <a:solidFill>
                  <a:srgbClr val="5B677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 ถูก   </a:t>
            </a:r>
            <a:r>
              <a:rPr lang="en-US" sz="1400" b="1" dirty="0">
                <a:solidFill>
                  <a:srgbClr val="B5670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FP</a:t>
            </a:r>
            <a:r>
              <a:rPr lang="en-US" sz="1400" dirty="0">
                <a:solidFill>
                  <a:srgbClr val="5B677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 ทายเกิน   </a:t>
            </a:r>
            <a:r>
              <a:rPr lang="en-US" sz="1400" b="1" dirty="0">
                <a:solidFill>
                  <a:srgbClr val="2E5E8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FN</a:t>
            </a:r>
            <a:r>
              <a:rPr lang="en-US" sz="1400" dirty="0">
                <a:solidFill>
                  <a:srgbClr val="5B677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 พลาด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5440680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B677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จากงานจริง 118 ภาพ:  TP 180,802 · FP 171,802 · FN 233,636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400800" y="1737360"/>
            <a:ext cx="51206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6629400" y="184708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629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Precision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6629400" y="224028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 / (TP + FP)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9326880" y="182880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222629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0.53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6629400" y="2395728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77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ที่ทายว่ารอยร้าว ถูกจริงกี่ % (ลดเตือนลวง)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00800" y="2862072"/>
            <a:ext cx="51206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629400" y="29718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629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Recall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6629400" y="3364992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 / (TP + FN)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9326880" y="2953512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222629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0.57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6629400" y="352044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77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รอยร้าวจริงทั้งหมด จับได้กี่ % (ลดที่พลาด)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400800" y="3986784"/>
            <a:ext cx="51206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6629400" y="4096512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629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IoU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6629400" y="4489704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 / (TP + FP + FN)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9326880" y="4078224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222629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0.35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6629400" y="4645152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77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ความซ้อนทับของสองพื้นที่ · มาตรฐาน segmentation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629400" y="5221224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Dice (F1)</a:t>
            </a:r>
            <a:endParaRPr lang="en-US" sz="1700" dirty="0"/>
          </a:p>
        </p:txBody>
      </p:sp>
      <p:sp>
        <p:nvSpPr>
          <p:cNvPr id="24" name="Text 21"/>
          <p:cNvSpPr/>
          <p:nvPr/>
        </p:nvSpPr>
        <p:spPr>
          <a:xfrm>
            <a:off x="6629400" y="5614416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2·TP / (2·TP + FP + FN)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9326880" y="5202936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600" b="1" dirty="0"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0.50</a:t>
            </a:r>
            <a:endParaRPr lang="en-US" sz="2600" dirty="0"/>
          </a:p>
        </p:txBody>
      </p:sp>
      <p:sp>
        <p:nvSpPr>
          <p:cNvPr id="26" name="Text 23"/>
          <p:cNvSpPr/>
          <p:nvPr/>
        </p:nvSpPr>
        <p:spPr>
          <a:xfrm>
            <a:off x="6629400" y="5769864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77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เฉลี่ยฮาร์มอนิกของ P&amp;R · เลขหลักที่รายงาน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629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ผลการทดลอง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170432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77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ค่าเฉลี่ยระดับพิกเซลบนภาพจริงทั้ง 118 ภาพ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2651760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B677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Dice (F1)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24028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0.5024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640080" y="2907792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3A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จาก 0.3201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29000" y="1737360"/>
            <a:ext cx="2651760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429000" y="18745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B677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IoU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429000" y="224028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222629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0.3533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3429000" y="2907792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3A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จาก 0.2051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1737360"/>
            <a:ext cx="2651760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217920" y="18745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B677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Precision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217920" y="224028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222629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0.5273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6217920" y="2907792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3A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จาก 0.2479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006840" y="1737360"/>
            <a:ext cx="2651760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006840" y="18745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B677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Recall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006840" y="224028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222629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0.5732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9006840" y="2907792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3A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จาก 0.5982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" y="35661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22629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พัฒนาการของ Dice ตามรอบการจูน</a:t>
            </a:r>
            <a:endParaRPr lang="en-US" sz="15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3965769"/>
              </p:ext>
            </p:extLst>
          </p:nvPr>
        </p:nvGraphicFramePr>
        <p:xfrm>
          <a:off x="640080" y="3977640"/>
          <a:ext cx="10881360" cy="192024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3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ค่าเริ่มต้น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3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รอบ 1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3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รอบ 2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3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รอบ 3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3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222629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Precision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22629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0.2479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22629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0.5349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22629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0.4990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22629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0.5273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222629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Recall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22629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0.5982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22629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0.5194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22629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0.5781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22629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0.5732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222629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IoU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22629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0.2051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22629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0.3399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22629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0.3492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22629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0.3533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Dice</a:t>
                      </a:r>
                      <a:endParaRPr lang="en-US" sz="1400" dirty="0">
                        <a:solidFill>
                          <a:schemeClr val="tx1"/>
                        </a:solidFill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0.3201</a:t>
                      </a:r>
                      <a:endParaRPr lang="en-US" sz="1400" dirty="0">
                        <a:solidFill>
                          <a:schemeClr val="tx1"/>
                        </a:solidFill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0.4872</a:t>
                      </a:r>
                      <a:endParaRPr lang="en-US" sz="1400" dirty="0">
                        <a:solidFill>
                          <a:schemeClr val="tx1"/>
                        </a:solidFill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0.4991</a:t>
                      </a:r>
                      <a:endParaRPr lang="en-US" sz="1400" dirty="0">
                        <a:solidFill>
                          <a:schemeClr val="tx1"/>
                        </a:solidFill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0.5024</a:t>
                      </a:r>
                      <a:endParaRPr lang="en-US" sz="1400" dirty="0">
                        <a:solidFill>
                          <a:schemeClr val="tx1"/>
                        </a:solidFill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2" name="Text 19"/>
          <p:cNvSpPr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5670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Precision เพิ่มกว่าเท่าตัว = ระบบเลิกทายพื้นผิวธรรมดาว่าเป็นรอยร้าว ขณะที่ Recall ลดเพียงเล็กน้อย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629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เทียบกับวิธีอื่น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170432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77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ทุกวิธีจูนด้วยกระบวนการเดียวกัน เปิดครบ 4 ขั้นตอน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5577840" cy="231648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วิธี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3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Dice (กันไว้)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3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Dice (118)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3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ชนะขาด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3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False Positive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3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222629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Adaptive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22629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0.5105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22629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0.5024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22629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102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22629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171,802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222629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Sobel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22629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0.3159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22629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0.2927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22629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8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22629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463,628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222629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Otsu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22629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0.2257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22629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0.2428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22629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5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22629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392,289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222629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Canny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22629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0.2237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22629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0.2107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22629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3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22629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1,457,995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114800"/>
            <a:ext cx="557784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22629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Edge (Canny/Sobel) ตอบสนองต่อ texture ยางมะตอย ขอบคราบ และเงา ส่วน Otsu ใช้ค่าขีดแบ่งค่าเดียวทั้งภาพ จึงตัดเงามาเป็นรอยร้าว Adaptive ถามคำถามที่เจาะจงกว่า: พิกเซลนี้มืดกว่าเพื่อนบ้านไหม</a:t>
            </a:r>
            <a:endParaRPr lang="en-US" sz="1400" dirty="0"/>
          </a:p>
        </p:txBody>
      </p:sp>
      <p:pic>
        <p:nvPicPr>
          <p:cNvPr id="6" name="Image 0" descr="/sessions/eager-charming-feynman/mnt/MiniProject/docs/figures/method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600325"/>
            <a:ext cx="5120640" cy="248031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400800" y="58064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77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รูปที่ 2 — mask จากแต่ละวิธีบนภาพเดียวกัน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E33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บทเรียนสำคัญ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49808" y="1325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E8871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เกณฑ์กรองรูปทรงเดิม (aspect ratio) ทำให้ผลแย่ลง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965960"/>
            <a:ext cx="54864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aspect ratio </a:t>
            </a:r>
            <a:r>
              <a:rPr lang="en-US" sz="1600" dirty="0">
                <a:solidFill>
                  <a:srgbClr val="CBD1D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ของกรอบสี่เหลี่ยม สมมติว่ารอยร้าวเป็นเส้นตรง — รอยร้าวรูปตัว T หรือแตกแขนงจะมีกรอบเกือบจัตุรัส แล้วถูกตัดทิ้งทั้งเส้น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3886200"/>
            <a:ext cx="54864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circularity </a:t>
            </a:r>
            <a:r>
              <a:rPr lang="en-US" sz="1600" dirty="0">
                <a:solidFill>
                  <a:srgbClr val="CBD1D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= 4·π·area / perimeter² ไม่ขึ้นกับความโค้ง เก็บเส้นเรียวได้ทุกแบบ ทำให้ภาพที่เคยได้ 0.0000 กลับมาได้ 0.58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0" y="21031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circularity (ใหม่)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144000" y="2121408"/>
            <a:ext cx="2286000" cy="274320"/>
          </a:xfrm>
          <a:prstGeom prst="rect">
            <a:avLst/>
          </a:prstGeom>
          <a:solidFill>
            <a:srgbClr val="3A404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9144000" y="2121408"/>
            <a:ext cx="2179181" cy="274320"/>
          </a:xfrm>
          <a:prstGeom prst="rect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144000" y="2084832"/>
            <a:ext cx="2286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0.5243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0" y="27614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EB6B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ไม่กรองรูปทรง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144000" y="2779776"/>
            <a:ext cx="2286000" cy="274320"/>
          </a:xfrm>
          <a:prstGeom prst="rect">
            <a:avLst/>
          </a:prstGeom>
          <a:solidFill>
            <a:srgbClr val="3A404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9144000" y="2779776"/>
            <a:ext cx="2161725" cy="274320"/>
          </a:xfrm>
          <a:prstGeom prst="rect">
            <a:avLst/>
          </a:prstGeom>
          <a:solidFill>
            <a:srgbClr val="6B74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144000" y="2743200"/>
            <a:ext cx="2286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0.5201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0" y="3419856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EB6B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ใช้ทั้งสองเกณฑ์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144000" y="3438144"/>
            <a:ext cx="2286000" cy="274320"/>
          </a:xfrm>
          <a:prstGeom prst="rect">
            <a:avLst/>
          </a:prstGeom>
          <a:solidFill>
            <a:srgbClr val="3A404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9144000" y="3438144"/>
            <a:ext cx="2090651" cy="274320"/>
          </a:xfrm>
          <a:prstGeom prst="rect">
            <a:avLst/>
          </a:prstGeom>
          <a:solidFill>
            <a:srgbClr val="6B74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144000" y="3401568"/>
            <a:ext cx="2286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0.5030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0" y="4078224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EB6B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aspect ratio (เดิม)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144000" y="4096512"/>
            <a:ext cx="2286000" cy="274320"/>
          </a:xfrm>
          <a:prstGeom prst="rect">
            <a:avLst/>
          </a:prstGeom>
          <a:solidFill>
            <a:srgbClr val="3A404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9144000" y="4096512"/>
            <a:ext cx="2076935" cy="274320"/>
          </a:xfrm>
          <a:prstGeom prst="rect">
            <a:avLst/>
          </a:prstGeom>
          <a:solidFill>
            <a:srgbClr val="6B74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9144000" y="4059936"/>
            <a:ext cx="2286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0.4997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00800" y="5029200"/>
            <a:ext cx="51206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E8871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เกณฑ์เดิม (0.4997) แย่กว่าการไม่กรองเลย (0.5201) — ครั้งแรกที่ขั้นตอนนี้มีเหตุผลเชิงตัวเลขรองรับ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629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ตัวอย่างผลลัพธ์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170432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77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ต้นฉบับ · ภาพเฉลย · ผลทำนาย · ซ้อนทับ</a:t>
            </a:r>
            <a:endParaRPr lang="en-US" sz="1500" dirty="0"/>
          </a:p>
        </p:txBody>
      </p:sp>
      <p:pic>
        <p:nvPicPr>
          <p:cNvPr id="4" name="Image 0" descr="/sessions/eager-charming-feynman/mnt/MiniProject/docs/figures/success_ca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2626" y="1691640"/>
            <a:ext cx="3546987" cy="3383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12064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C7A52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กรณีที่ทำงานได้ดี — รอยร้าว contrast ชัด พื้นหลังสม่ำเสมอ</a:t>
            </a:r>
            <a:endParaRPr lang="en-US" sz="1200" dirty="0"/>
          </a:p>
        </p:txBody>
      </p:sp>
      <p:pic>
        <p:nvPicPr>
          <p:cNvPr id="6" name="Image 1" descr="/sessions/eager-charming-feynman/mnt/MiniProject/docs/figures/failure_cas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1906" y="1691640"/>
            <a:ext cx="3546987" cy="33832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309360" y="512064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5670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กรณีที่คะแนนต่ำ — บางภาพเป็นปัญหาของภาพเฉลยเอง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640080" y="56235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5B677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ภาพ 021: ระบบจับรอยแตกลายงาบนเส้นจราจรที่เป็นรอยจริง แต่ภาพเฉลยไม่ได้ทำเครื่องหมายไว้ → ตัววัดระดับพิกเซลลงโทษการเจอสิ่งที่คนวาดเฉลยไม่ได้วาด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E33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การต่อยอด และสรุป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49808" y="1371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E8871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ไปป์ไลน์เร็ว 7.0 ms/ภาพ (143 ภาพ/วินาที) — เหมาะกับการฝังลงฮาร์ดแวร์เล็ก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731520" y="2286000"/>
            <a:ext cx="2651760" cy="2011680"/>
          </a:xfrm>
          <a:prstGeom prst="roundRect">
            <a:avLst>
              <a:gd name="adj" fmla="val 3182"/>
            </a:avLst>
          </a:prstGeom>
          <a:solidFill>
            <a:srgbClr val="3A4046"/>
          </a:solidFill>
          <a:ln w="12700">
            <a:solidFill>
              <a:srgbClr val="4E55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05840" y="2560320"/>
            <a:ext cx="594360" cy="594360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05840" y="25603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05840" y="324612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ฝัง Edge AI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361188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BD1D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ปรับให้เบาลง รันบน ESP32/FPGA + โดรนสำรวจ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566160" y="2286000"/>
            <a:ext cx="2651760" cy="2011680"/>
          </a:xfrm>
          <a:prstGeom prst="roundRect">
            <a:avLst>
              <a:gd name="adj" fmla="val 3182"/>
            </a:avLst>
          </a:prstGeom>
          <a:solidFill>
            <a:srgbClr val="3A4046"/>
          </a:solidFill>
          <a:ln w="12700">
            <a:solidFill>
              <a:srgbClr val="4E55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840480" y="2560320"/>
            <a:ext cx="594360" cy="594360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840480" y="25603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840480" y="324612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ปรับขั้นที่ 4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840480" y="361188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BD1D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ยังตัดรอยร้าวจริงทิ้ง 20.2% เก็บกลับได้อีก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0" y="2286000"/>
            <a:ext cx="2651760" cy="2011680"/>
          </a:xfrm>
          <a:prstGeom prst="roundRect">
            <a:avLst>
              <a:gd name="adj" fmla="val 3182"/>
            </a:avLst>
          </a:prstGeom>
          <a:solidFill>
            <a:srgbClr val="3A4046"/>
          </a:solidFill>
          <a:ln w="12700">
            <a:solidFill>
              <a:srgbClr val="4E55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675120" y="2560320"/>
            <a:ext cx="594360" cy="594360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675120" y="25603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675120" y="324612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วัดความกว้างจริง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675120" y="361188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BD1D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แปลงเป็นมิลลิเมตรเพื่อประเมินความรุนแรง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235440" y="2286000"/>
            <a:ext cx="2651760" cy="2011680"/>
          </a:xfrm>
          <a:prstGeom prst="roundRect">
            <a:avLst>
              <a:gd name="adj" fmla="val 3182"/>
            </a:avLst>
          </a:prstGeom>
          <a:solidFill>
            <a:srgbClr val="3A4046"/>
          </a:solidFill>
          <a:ln w="12700">
            <a:solidFill>
              <a:srgbClr val="4E55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9509760" y="2560320"/>
            <a:ext cx="594360" cy="594360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9509760" y="25603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9509760" y="324612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ทดสอบผิวในอาคาร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509760" y="361188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BD1D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ชุดข้อมูลปัจจุบันเป็นผิวถนน ยากกว่าโจทย์ตั้งต้น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31520" y="470916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E8871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สรุป: </a:t>
            </a:r>
            <a:r>
              <a:rPr lang="en-US" sz="1500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การประมวลผลภาพแบบดั้งเดิมที่จูนอย่างเป็นระบบ ได้ Dice 0.5024 บนภาพจริง และ Adaptive Threshold ชนะ Otsu/Canny/Sobel 102 จาก 118 ภาพ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31520" y="57150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ขอบคุณครับ/ค่ะ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1403</Words>
  <Application>Microsoft Office PowerPoint</Application>
  <PresentationFormat>Widescreen</PresentationFormat>
  <Paragraphs>196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Consolas</vt:lpstr>
      <vt:lpstr>Leelawadee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KASIDID PUANGTO</cp:lastModifiedBy>
  <cp:revision>2</cp:revision>
  <dcterms:created xsi:type="dcterms:W3CDTF">2026-09-21T12:16:41Z</dcterms:created>
  <dcterms:modified xsi:type="dcterms:W3CDTF">2026-09-21T13:23:00Z</dcterms:modified>
</cp:coreProperties>
</file>