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9" d="100"/>
          <a:sy n="79" d="100"/>
        </p:scale>
        <p:origin x="74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3730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Hi everyone. Today our group presents our project, Concrete Crack Detection.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The idea started with last year's earthquake affecting Thailand, which put building safety in the spotlight. Cracks on concrete walls and columns are one of the earliest warning signs of deterioration, but inspecting large or hard-to-reach areas by eye is slow and easy to get wrong.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Our goal is a program that detects cracks automatically and tells real cracks apart from normal rough texture or stains. We deliberately use traditional image processing first, no large deep-learning model, to prove the underlying math. We test on public datasets with pixel-level ground-truth masks such as CrackForest and Crack500. Next, [Member 2] will walk through how it works.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Our method has four main steps. First, pre-processing: convert to grayscale, reduce noise with Gaussian blur, and boost contrast with CLAHE so dark cracks stand out. Second, segmentation: Adaptive Thresholding pulls out the darker pixels into a binary mask — we chose adaptive because it handles uneven lighting better than global Otsu. Third, morphological filtering: Closing reconnects broken cracks and Opening removes small noise. Finally, shape analysis: we filter contours by area and aspect ratio, since real cracks are thin and long, unlike round pores or stains. Now [Member 3] will cover results and where this goes next.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We expect the program to produce a binary mask that highlights only crack lines and filters out noise from texture, pores, and shadows. For evaluation we work at the pixel level, comparing our mask to the ground-truth mask, and compute Precision, Recall, and especially IoU and Dice score — the standard metrics for segmentation, which suit crack data where crack pixels are heavily imbalanced, better than accuracy alone.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Finally, this can go much further. We plan to optimize the algorithm to run on small boards like ESP32 or FPGA, mount it on inspection drones to reach façades and under-bridge gaps, and send crack alerts with coordinates to a central system in real time. That's our project — thank you.</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3338"/>
        </a:solidFill>
        <a:effectLst/>
      </p:bgPr>
    </p:bg>
    <p:spTree>
      <p:nvGrpSpPr>
        <p:cNvPr id="1" name=""/>
        <p:cNvGrpSpPr/>
        <p:nvPr/>
      </p:nvGrpSpPr>
      <p:grpSpPr>
        <a:xfrm>
          <a:off x="0" y="0"/>
          <a:ext cx="0" cy="0"/>
          <a:chOff x="0" y="0"/>
          <a:chExt cx="0" cy="0"/>
        </a:xfrm>
      </p:grpSpPr>
      <p:sp>
        <p:nvSpPr>
          <p:cNvPr id="2" name="Shape 0"/>
          <p:cNvSpPr/>
          <p:nvPr/>
        </p:nvSpPr>
        <p:spPr>
          <a:xfrm>
            <a:off x="0" y="4572000"/>
            <a:ext cx="12161520" cy="0"/>
          </a:xfrm>
          <a:prstGeom prst="line">
            <a:avLst/>
          </a:prstGeom>
          <a:noFill/>
          <a:ln w="31750">
            <a:solidFill>
              <a:srgbClr val="E8871E"/>
            </a:solidFill>
            <a:prstDash val="solid"/>
            <a:headEnd type="none"/>
            <a:tailEnd type="none"/>
          </a:ln>
        </p:spPr>
        <p:txBody>
          <a:bodyPr/>
          <a:lstStyle/>
          <a:p>
            <a:endParaRPr lang="en-US"/>
          </a:p>
        </p:txBody>
      </p:sp>
      <p:sp>
        <p:nvSpPr>
          <p:cNvPr id="3" name="Shape 1"/>
          <p:cNvSpPr/>
          <p:nvPr/>
        </p:nvSpPr>
        <p:spPr>
          <a:xfrm flipV="1">
            <a:off x="0" y="4480560"/>
            <a:ext cx="1920240" cy="411480"/>
          </a:xfrm>
          <a:prstGeom prst="line">
            <a:avLst/>
          </a:prstGeom>
          <a:noFill/>
          <a:ln w="38100">
            <a:solidFill>
              <a:srgbClr val="E8871E"/>
            </a:solidFill>
            <a:prstDash val="solid"/>
          </a:ln>
        </p:spPr>
        <p:txBody>
          <a:bodyPr/>
          <a:lstStyle/>
          <a:p>
            <a:endParaRPr lang="en-US"/>
          </a:p>
        </p:txBody>
      </p:sp>
      <p:sp>
        <p:nvSpPr>
          <p:cNvPr id="4" name="Shape 2"/>
          <p:cNvSpPr/>
          <p:nvPr/>
        </p:nvSpPr>
        <p:spPr>
          <a:xfrm>
            <a:off x="1920240" y="4480560"/>
            <a:ext cx="1188720" cy="594360"/>
          </a:xfrm>
          <a:prstGeom prst="line">
            <a:avLst/>
          </a:prstGeom>
          <a:noFill/>
          <a:ln w="38100">
            <a:solidFill>
              <a:srgbClr val="E8871E"/>
            </a:solidFill>
            <a:prstDash val="solid"/>
          </a:ln>
        </p:spPr>
        <p:txBody>
          <a:bodyPr/>
          <a:lstStyle/>
          <a:p>
            <a:endParaRPr lang="en-US"/>
          </a:p>
        </p:txBody>
      </p:sp>
      <p:sp>
        <p:nvSpPr>
          <p:cNvPr id="5" name="Shape 3"/>
          <p:cNvSpPr/>
          <p:nvPr/>
        </p:nvSpPr>
        <p:spPr>
          <a:xfrm flipV="1">
            <a:off x="3108960" y="4617720"/>
            <a:ext cx="1463040" cy="457200"/>
          </a:xfrm>
          <a:prstGeom prst="line">
            <a:avLst/>
          </a:prstGeom>
          <a:noFill/>
          <a:ln w="38100">
            <a:solidFill>
              <a:srgbClr val="E8871E"/>
            </a:solidFill>
            <a:prstDash val="solid"/>
          </a:ln>
        </p:spPr>
        <p:txBody>
          <a:bodyPr/>
          <a:lstStyle/>
          <a:p>
            <a:endParaRPr lang="en-US"/>
          </a:p>
        </p:txBody>
      </p:sp>
      <p:sp>
        <p:nvSpPr>
          <p:cNvPr id="6" name="Shape 4"/>
          <p:cNvSpPr/>
          <p:nvPr/>
        </p:nvSpPr>
        <p:spPr>
          <a:xfrm>
            <a:off x="4572000" y="4617720"/>
            <a:ext cx="1097280" cy="594360"/>
          </a:xfrm>
          <a:prstGeom prst="line">
            <a:avLst/>
          </a:prstGeom>
          <a:noFill/>
          <a:ln w="38100">
            <a:solidFill>
              <a:srgbClr val="E8871E"/>
            </a:solidFill>
            <a:prstDash val="solid"/>
          </a:ln>
        </p:spPr>
        <p:txBody>
          <a:bodyPr/>
          <a:lstStyle/>
          <a:p>
            <a:endParaRPr lang="en-US"/>
          </a:p>
        </p:txBody>
      </p:sp>
      <p:sp>
        <p:nvSpPr>
          <p:cNvPr id="7" name="Shape 5"/>
          <p:cNvSpPr/>
          <p:nvPr/>
        </p:nvSpPr>
        <p:spPr>
          <a:xfrm flipV="1">
            <a:off x="5669280" y="4709160"/>
            <a:ext cx="1645920" cy="502920"/>
          </a:xfrm>
          <a:prstGeom prst="line">
            <a:avLst/>
          </a:prstGeom>
          <a:noFill/>
          <a:ln w="38100">
            <a:solidFill>
              <a:srgbClr val="E8871E"/>
            </a:solidFill>
            <a:prstDash val="solid"/>
          </a:ln>
        </p:spPr>
        <p:txBody>
          <a:bodyPr/>
          <a:lstStyle/>
          <a:p>
            <a:endParaRPr lang="en-US"/>
          </a:p>
        </p:txBody>
      </p:sp>
      <p:sp>
        <p:nvSpPr>
          <p:cNvPr id="8" name="Shape 6"/>
          <p:cNvSpPr/>
          <p:nvPr/>
        </p:nvSpPr>
        <p:spPr>
          <a:xfrm>
            <a:off x="7315200" y="4709160"/>
            <a:ext cx="1280160" cy="548640"/>
          </a:xfrm>
          <a:prstGeom prst="line">
            <a:avLst/>
          </a:prstGeom>
          <a:noFill/>
          <a:ln w="38100">
            <a:solidFill>
              <a:srgbClr val="E8871E"/>
            </a:solidFill>
            <a:prstDash val="solid"/>
          </a:ln>
        </p:spPr>
        <p:txBody>
          <a:bodyPr/>
          <a:lstStyle/>
          <a:p>
            <a:endParaRPr lang="en-US"/>
          </a:p>
        </p:txBody>
      </p:sp>
      <p:sp>
        <p:nvSpPr>
          <p:cNvPr id="9" name="Shape 7"/>
          <p:cNvSpPr/>
          <p:nvPr/>
        </p:nvSpPr>
        <p:spPr>
          <a:xfrm flipV="1">
            <a:off x="8595360" y="4754880"/>
            <a:ext cx="1554480" cy="502920"/>
          </a:xfrm>
          <a:prstGeom prst="line">
            <a:avLst/>
          </a:prstGeom>
          <a:noFill/>
          <a:ln w="38100">
            <a:solidFill>
              <a:srgbClr val="E8871E"/>
            </a:solidFill>
            <a:prstDash val="solid"/>
          </a:ln>
        </p:spPr>
        <p:txBody>
          <a:bodyPr/>
          <a:lstStyle/>
          <a:p>
            <a:endParaRPr lang="en-US"/>
          </a:p>
        </p:txBody>
      </p:sp>
      <p:sp>
        <p:nvSpPr>
          <p:cNvPr id="10" name="Shape 8"/>
          <p:cNvSpPr/>
          <p:nvPr/>
        </p:nvSpPr>
        <p:spPr>
          <a:xfrm>
            <a:off x="10149840" y="4754880"/>
            <a:ext cx="2011680" cy="274320"/>
          </a:xfrm>
          <a:prstGeom prst="line">
            <a:avLst/>
          </a:prstGeom>
          <a:noFill/>
          <a:ln w="38100">
            <a:solidFill>
              <a:srgbClr val="E8871E"/>
            </a:solidFill>
            <a:prstDash val="solid"/>
          </a:ln>
        </p:spPr>
        <p:txBody>
          <a:bodyPr/>
          <a:lstStyle/>
          <a:p>
            <a:endParaRPr lang="en-US"/>
          </a:p>
        </p:txBody>
      </p:sp>
      <p:sp>
        <p:nvSpPr>
          <p:cNvPr id="11" name="Text 9"/>
          <p:cNvSpPr/>
          <p:nvPr/>
        </p:nvSpPr>
        <p:spPr>
          <a:xfrm>
            <a:off x="731520" y="1005840"/>
            <a:ext cx="10058400" cy="365760"/>
          </a:xfrm>
          <a:prstGeom prst="rect">
            <a:avLst/>
          </a:prstGeom>
          <a:noFill/>
          <a:ln/>
        </p:spPr>
        <p:txBody>
          <a:bodyPr wrap="square" rtlCol="0" anchor="ctr"/>
          <a:lstStyle/>
          <a:p>
            <a:pPr marL="0" indent="0">
              <a:buNone/>
            </a:pPr>
            <a:r>
              <a:rPr lang="en-US" sz="1400" b="1" kern="0" spc="300" dirty="0">
                <a:solidFill>
                  <a:srgbClr val="E8871E"/>
                </a:solidFill>
                <a:latin typeface="Calibri" pitchFamily="34" charset="0"/>
                <a:ea typeface="Calibri" pitchFamily="34" charset="-122"/>
                <a:cs typeface="Calibri" pitchFamily="34" charset="-120"/>
              </a:rPr>
              <a:t>IMAGE PROCESSING · MINI PROJECT</a:t>
            </a:r>
            <a:endParaRPr lang="en-US" sz="1400" dirty="0"/>
          </a:p>
        </p:txBody>
      </p:sp>
      <p:sp>
        <p:nvSpPr>
          <p:cNvPr id="12" name="Text 10"/>
          <p:cNvSpPr/>
          <p:nvPr/>
        </p:nvSpPr>
        <p:spPr>
          <a:xfrm>
            <a:off x="731520" y="1554480"/>
            <a:ext cx="10698480" cy="1188720"/>
          </a:xfrm>
          <a:prstGeom prst="rect">
            <a:avLst/>
          </a:prstGeom>
          <a:noFill/>
          <a:ln/>
        </p:spPr>
        <p:txBody>
          <a:bodyPr wrap="square"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Concrete Crack Detection</a:t>
            </a:r>
            <a:endParaRPr lang="en-US" sz="5200" dirty="0"/>
          </a:p>
        </p:txBody>
      </p:sp>
      <p:sp>
        <p:nvSpPr>
          <p:cNvPr id="13" name="Text 11"/>
          <p:cNvSpPr/>
          <p:nvPr/>
        </p:nvSpPr>
        <p:spPr>
          <a:xfrm>
            <a:off x="731520" y="2743200"/>
            <a:ext cx="10058400" cy="822960"/>
          </a:xfrm>
          <a:prstGeom prst="rect">
            <a:avLst/>
          </a:prstGeom>
          <a:noFill/>
          <a:ln/>
        </p:spPr>
        <p:txBody>
          <a:bodyPr wrap="square" rtlCol="0" anchor="ctr"/>
          <a:lstStyle/>
          <a:p>
            <a:pPr marL="0" indent="0">
              <a:buNone/>
            </a:pPr>
            <a:r>
              <a:rPr lang="en-US" sz="2000" dirty="0">
                <a:solidFill>
                  <a:srgbClr val="CBD1D6"/>
                </a:solidFill>
                <a:latin typeface="Calibri" pitchFamily="34" charset="0"/>
                <a:ea typeface="Calibri" pitchFamily="34" charset="-122"/>
                <a:cs typeface="Calibri" pitchFamily="34" charset="-120"/>
              </a:rPr>
              <a:t>Automated detection of structural cracks on concrete surfaces using traditional image-processing techniques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2"/>
        </a:solidFill>
        <a:effectLst/>
      </p:bgPr>
    </p:bg>
    <p:spTree>
      <p:nvGrpSpPr>
        <p:cNvPr id="1" name=""/>
        <p:cNvGrpSpPr/>
        <p:nvPr/>
      </p:nvGrpSpPr>
      <p:grpSpPr>
        <a:xfrm>
          <a:off x="0" y="0"/>
          <a:ext cx="0" cy="0"/>
          <a:chOff x="0" y="0"/>
          <a:chExt cx="0" cy="0"/>
        </a:xfrm>
      </p:grpSpPr>
      <p:sp>
        <p:nvSpPr>
          <p:cNvPr id="2" name="Text 0"/>
          <p:cNvSpPr/>
          <p:nvPr/>
        </p:nvSpPr>
        <p:spPr>
          <a:xfrm>
            <a:off x="640080" y="502920"/>
            <a:ext cx="10972800" cy="731520"/>
          </a:xfrm>
          <a:prstGeom prst="rect">
            <a:avLst/>
          </a:prstGeom>
          <a:noFill/>
          <a:ln/>
        </p:spPr>
        <p:txBody>
          <a:bodyPr wrap="square" rtlCol="0" anchor="ctr"/>
          <a:lstStyle/>
          <a:p>
            <a:pPr marL="0" indent="0">
              <a:buNone/>
            </a:pPr>
            <a:r>
              <a:rPr lang="en-US" sz="3800" b="1" dirty="0">
                <a:solidFill>
                  <a:srgbClr val="222629"/>
                </a:solidFill>
                <a:latin typeface="Cambria" pitchFamily="34" charset="0"/>
                <a:ea typeface="Cambria" pitchFamily="34" charset="-122"/>
                <a:cs typeface="Cambria" pitchFamily="34" charset="-120"/>
              </a:rPr>
              <a:t>Problem &amp; Motivation</a:t>
            </a:r>
            <a:endParaRPr lang="en-US" sz="3800" dirty="0"/>
          </a:p>
        </p:txBody>
      </p:sp>
      <p:sp>
        <p:nvSpPr>
          <p:cNvPr id="3" name="Text 1"/>
          <p:cNvSpPr/>
          <p:nvPr/>
        </p:nvSpPr>
        <p:spPr>
          <a:xfrm>
            <a:off x="658368" y="1234440"/>
            <a:ext cx="10972800" cy="457200"/>
          </a:xfrm>
          <a:prstGeom prst="rect">
            <a:avLst/>
          </a:prstGeom>
          <a:noFill/>
          <a:ln/>
        </p:spPr>
        <p:txBody>
          <a:bodyPr wrap="square" rtlCol="0" anchor="ctr"/>
          <a:lstStyle/>
          <a:p>
            <a:pPr marL="0" indent="0">
              <a:buNone/>
            </a:pPr>
            <a:r>
              <a:rPr lang="en-US" sz="1700" i="1" dirty="0">
                <a:solidFill>
                  <a:srgbClr val="5B6770"/>
                </a:solidFill>
                <a:latin typeface="Calibri" pitchFamily="34" charset="0"/>
                <a:ea typeface="Calibri" pitchFamily="34" charset="-122"/>
                <a:cs typeface="Calibri" pitchFamily="34" charset="-120"/>
              </a:rPr>
              <a:t>Why automatic crack detection matters</a:t>
            </a:r>
            <a:endParaRPr lang="en-US" sz="1700" dirty="0"/>
          </a:p>
        </p:txBody>
      </p:sp>
      <p:sp>
        <p:nvSpPr>
          <p:cNvPr id="4" name="Text 2"/>
          <p:cNvSpPr/>
          <p:nvPr/>
        </p:nvSpPr>
        <p:spPr>
          <a:xfrm>
            <a:off x="640080" y="2057400"/>
            <a:ext cx="5852160" cy="3017520"/>
          </a:xfrm>
          <a:prstGeom prst="rect">
            <a:avLst/>
          </a:prstGeom>
          <a:noFill/>
          <a:ln/>
        </p:spPr>
        <p:txBody>
          <a:bodyPr wrap="square" rtlCol="0" anchor="t"/>
          <a:lstStyle/>
          <a:p>
            <a:pPr marL="0" indent="0">
              <a:lnSpc>
                <a:spcPct val="125000"/>
              </a:lnSpc>
              <a:buNone/>
            </a:pPr>
            <a:r>
              <a:rPr lang="en-US" sz="1700" dirty="0">
                <a:solidFill>
                  <a:srgbClr val="222629"/>
                </a:solidFill>
                <a:latin typeface="Calibri" pitchFamily="34" charset="0"/>
                <a:ea typeface="Calibri" pitchFamily="34" charset="-122"/>
                <a:cs typeface="Calibri" pitchFamily="34" charset="-120"/>
              </a:rPr>
              <a:t>Last year's earthquake affecting Thailand raised strong awareness about the safety of buildings and infrastructure. Cracks on concrete walls and columns are one of the earliest warning signs of structural deterioration — but manual visual inspection over large or hard-to-reach areas is slow and error-prone.</a:t>
            </a:r>
            <a:endParaRPr lang="en-US" sz="1700" dirty="0"/>
          </a:p>
        </p:txBody>
      </p:sp>
      <p:sp>
        <p:nvSpPr>
          <p:cNvPr id="5" name="Shape 3"/>
          <p:cNvSpPr/>
          <p:nvPr/>
        </p:nvSpPr>
        <p:spPr>
          <a:xfrm>
            <a:off x="6858000" y="2011680"/>
            <a:ext cx="4663440" cy="960120"/>
          </a:xfrm>
          <a:prstGeom prst="roundRect">
            <a:avLst>
              <a:gd name="adj" fmla="val 7619"/>
            </a:avLst>
          </a:prstGeom>
          <a:solidFill>
            <a:srgbClr val="FFFFFF"/>
          </a:solidFill>
          <a:ln w="12700">
            <a:solidFill>
              <a:srgbClr val="DDDDDD"/>
            </a:solidFill>
            <a:prstDash val="solid"/>
          </a:ln>
          <a:effectLst>
            <a:outerShdw blurRad="76200" dist="25400" dir="5400000" algn="bl" rotWithShape="0">
              <a:srgbClr val="BBBBBB">
                <a:alpha val="50000"/>
              </a:srgbClr>
            </a:outerShdw>
          </a:effectLst>
        </p:spPr>
        <p:txBody>
          <a:bodyPr/>
          <a:lstStyle/>
          <a:p>
            <a:endParaRPr lang="en-US"/>
          </a:p>
        </p:txBody>
      </p:sp>
      <p:sp>
        <p:nvSpPr>
          <p:cNvPr id="6" name="Shape 4"/>
          <p:cNvSpPr/>
          <p:nvPr/>
        </p:nvSpPr>
        <p:spPr>
          <a:xfrm>
            <a:off x="7086600" y="2267712"/>
            <a:ext cx="457200" cy="457200"/>
          </a:xfrm>
          <a:prstGeom prst="ellipse">
            <a:avLst/>
          </a:prstGeom>
          <a:solidFill>
            <a:srgbClr val="E8871E"/>
          </a:solidFill>
          <a:ln/>
        </p:spPr>
        <p:txBody>
          <a:bodyPr/>
          <a:lstStyle/>
          <a:p>
            <a:endParaRPr lang="en-US"/>
          </a:p>
        </p:txBody>
      </p:sp>
      <p:sp>
        <p:nvSpPr>
          <p:cNvPr id="7" name="Text 5"/>
          <p:cNvSpPr/>
          <p:nvPr/>
        </p:nvSpPr>
        <p:spPr>
          <a:xfrm>
            <a:off x="7086600" y="2267712"/>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7726680" y="2103120"/>
            <a:ext cx="3611880" cy="777240"/>
          </a:xfrm>
          <a:prstGeom prst="rect">
            <a:avLst/>
          </a:prstGeom>
          <a:noFill/>
          <a:ln/>
        </p:spPr>
        <p:txBody>
          <a:bodyPr wrap="square" rtlCol="0" anchor="ctr"/>
          <a:lstStyle/>
          <a:p>
            <a:pPr marL="0" indent="0">
              <a:lnSpc>
                <a:spcPct val="105000"/>
              </a:lnSpc>
              <a:buNone/>
            </a:pPr>
            <a:r>
              <a:rPr lang="en-US" sz="1600" b="1" dirty="0">
                <a:solidFill>
                  <a:srgbClr val="222629"/>
                </a:solidFill>
                <a:latin typeface="Calibri" pitchFamily="34" charset="0"/>
                <a:ea typeface="Calibri" pitchFamily="34" charset="-122"/>
                <a:cs typeface="Calibri" pitchFamily="34" charset="-120"/>
              </a:rPr>
              <a:t>First warning sign
</a:t>
            </a:r>
            <a:r>
              <a:rPr lang="en-US" sz="1300" dirty="0">
                <a:solidFill>
                  <a:srgbClr val="5B6770"/>
                </a:solidFill>
                <a:latin typeface="Calibri" pitchFamily="34" charset="0"/>
                <a:ea typeface="Calibri" pitchFamily="34" charset="-122"/>
                <a:cs typeface="Calibri" pitchFamily="34" charset="-120"/>
              </a:rPr>
              <a:t>Cracks signal early structural deterioration</a:t>
            </a:r>
            <a:endParaRPr lang="en-US" sz="1600" dirty="0"/>
          </a:p>
        </p:txBody>
      </p:sp>
      <p:sp>
        <p:nvSpPr>
          <p:cNvPr id="9" name="Shape 7"/>
          <p:cNvSpPr/>
          <p:nvPr/>
        </p:nvSpPr>
        <p:spPr>
          <a:xfrm>
            <a:off x="6858000" y="3108960"/>
            <a:ext cx="4663440" cy="960120"/>
          </a:xfrm>
          <a:prstGeom prst="roundRect">
            <a:avLst>
              <a:gd name="adj" fmla="val 7619"/>
            </a:avLst>
          </a:prstGeom>
          <a:solidFill>
            <a:srgbClr val="FFFFFF"/>
          </a:solidFill>
          <a:ln w="12700">
            <a:solidFill>
              <a:srgbClr val="DDDDDD"/>
            </a:solidFill>
            <a:prstDash val="solid"/>
          </a:ln>
          <a:effectLst>
            <a:outerShdw blurRad="76200" dist="25400" dir="5400000" algn="bl" rotWithShape="0">
              <a:srgbClr val="BBBBBB">
                <a:alpha val="50000"/>
              </a:srgbClr>
            </a:outerShdw>
          </a:effectLst>
        </p:spPr>
        <p:txBody>
          <a:bodyPr/>
          <a:lstStyle/>
          <a:p>
            <a:endParaRPr lang="en-US"/>
          </a:p>
        </p:txBody>
      </p:sp>
      <p:sp>
        <p:nvSpPr>
          <p:cNvPr id="10" name="Shape 8"/>
          <p:cNvSpPr/>
          <p:nvPr/>
        </p:nvSpPr>
        <p:spPr>
          <a:xfrm>
            <a:off x="7086600" y="3364992"/>
            <a:ext cx="457200" cy="457200"/>
          </a:xfrm>
          <a:prstGeom prst="ellipse">
            <a:avLst/>
          </a:prstGeom>
          <a:solidFill>
            <a:srgbClr val="E8871E"/>
          </a:solidFill>
          <a:ln/>
        </p:spPr>
        <p:txBody>
          <a:bodyPr/>
          <a:lstStyle/>
          <a:p>
            <a:endParaRPr lang="en-US"/>
          </a:p>
        </p:txBody>
      </p:sp>
      <p:sp>
        <p:nvSpPr>
          <p:cNvPr id="11" name="Text 9"/>
          <p:cNvSpPr/>
          <p:nvPr/>
        </p:nvSpPr>
        <p:spPr>
          <a:xfrm>
            <a:off x="7086600" y="3364992"/>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7726680" y="3200400"/>
            <a:ext cx="3611880" cy="777240"/>
          </a:xfrm>
          <a:prstGeom prst="rect">
            <a:avLst/>
          </a:prstGeom>
          <a:noFill/>
          <a:ln/>
        </p:spPr>
        <p:txBody>
          <a:bodyPr wrap="square" rtlCol="0" anchor="ctr"/>
          <a:lstStyle/>
          <a:p>
            <a:pPr marL="0" indent="0">
              <a:lnSpc>
                <a:spcPct val="105000"/>
              </a:lnSpc>
              <a:buNone/>
            </a:pPr>
            <a:r>
              <a:rPr lang="en-US" sz="1600" b="1" dirty="0">
                <a:solidFill>
                  <a:srgbClr val="222629"/>
                </a:solidFill>
                <a:latin typeface="Calibri" pitchFamily="34" charset="0"/>
                <a:ea typeface="Calibri" pitchFamily="34" charset="-122"/>
                <a:cs typeface="Calibri" pitchFamily="34" charset="-120"/>
              </a:rPr>
              <a:t>Hard to access
</a:t>
            </a:r>
            <a:r>
              <a:rPr lang="en-US" sz="1300" dirty="0">
                <a:solidFill>
                  <a:srgbClr val="5B6770"/>
                </a:solidFill>
                <a:latin typeface="Calibri" pitchFamily="34" charset="0"/>
                <a:ea typeface="Calibri" pitchFamily="34" charset="-122"/>
                <a:cs typeface="Calibri" pitchFamily="34" charset="-120"/>
              </a:rPr>
              <a:t>Large areas &amp; tight spots are unsafe to inspect by hand</a:t>
            </a:r>
            <a:endParaRPr lang="en-US" sz="1600" dirty="0"/>
          </a:p>
        </p:txBody>
      </p:sp>
      <p:sp>
        <p:nvSpPr>
          <p:cNvPr id="13" name="Shape 11"/>
          <p:cNvSpPr/>
          <p:nvPr/>
        </p:nvSpPr>
        <p:spPr>
          <a:xfrm>
            <a:off x="6858000" y="4206240"/>
            <a:ext cx="4663440" cy="960120"/>
          </a:xfrm>
          <a:prstGeom prst="roundRect">
            <a:avLst>
              <a:gd name="adj" fmla="val 7619"/>
            </a:avLst>
          </a:prstGeom>
          <a:solidFill>
            <a:srgbClr val="FFFFFF"/>
          </a:solidFill>
          <a:ln w="12700">
            <a:solidFill>
              <a:srgbClr val="DDDDDD"/>
            </a:solidFill>
            <a:prstDash val="solid"/>
          </a:ln>
          <a:effectLst>
            <a:outerShdw blurRad="76200" dist="25400" dir="5400000" algn="bl" rotWithShape="0">
              <a:srgbClr val="BBBBBB">
                <a:alpha val="50000"/>
              </a:srgbClr>
            </a:outerShdw>
          </a:effectLst>
        </p:spPr>
        <p:txBody>
          <a:bodyPr/>
          <a:lstStyle/>
          <a:p>
            <a:endParaRPr lang="en-US"/>
          </a:p>
        </p:txBody>
      </p:sp>
      <p:sp>
        <p:nvSpPr>
          <p:cNvPr id="14" name="Shape 12"/>
          <p:cNvSpPr/>
          <p:nvPr/>
        </p:nvSpPr>
        <p:spPr>
          <a:xfrm>
            <a:off x="7086600" y="4462272"/>
            <a:ext cx="457200" cy="457200"/>
          </a:xfrm>
          <a:prstGeom prst="ellipse">
            <a:avLst/>
          </a:prstGeom>
          <a:solidFill>
            <a:srgbClr val="E8871E"/>
          </a:solidFill>
          <a:ln/>
        </p:spPr>
        <p:txBody>
          <a:bodyPr/>
          <a:lstStyle/>
          <a:p>
            <a:endParaRPr lang="en-US"/>
          </a:p>
        </p:txBody>
      </p:sp>
      <p:sp>
        <p:nvSpPr>
          <p:cNvPr id="15" name="Text 13"/>
          <p:cNvSpPr/>
          <p:nvPr/>
        </p:nvSpPr>
        <p:spPr>
          <a:xfrm>
            <a:off x="7086600" y="4462272"/>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4"/>
          <p:cNvSpPr/>
          <p:nvPr/>
        </p:nvSpPr>
        <p:spPr>
          <a:xfrm>
            <a:off x="7726680" y="4297680"/>
            <a:ext cx="3611880" cy="777240"/>
          </a:xfrm>
          <a:prstGeom prst="rect">
            <a:avLst/>
          </a:prstGeom>
          <a:noFill/>
          <a:ln/>
        </p:spPr>
        <p:txBody>
          <a:bodyPr wrap="square" rtlCol="0" anchor="ctr"/>
          <a:lstStyle/>
          <a:p>
            <a:pPr marL="0" indent="0">
              <a:lnSpc>
                <a:spcPct val="105000"/>
              </a:lnSpc>
              <a:buNone/>
            </a:pPr>
            <a:r>
              <a:rPr lang="en-US" sz="1600" b="1" dirty="0">
                <a:solidFill>
                  <a:srgbClr val="222629"/>
                </a:solidFill>
                <a:latin typeface="Calibri" pitchFamily="34" charset="0"/>
                <a:ea typeface="Calibri" pitchFamily="34" charset="-122"/>
                <a:cs typeface="Calibri" pitchFamily="34" charset="-120"/>
              </a:rPr>
              <a:t>Slow &amp; error-prone
</a:t>
            </a:r>
            <a:r>
              <a:rPr lang="en-US" sz="1300" dirty="0">
                <a:solidFill>
                  <a:srgbClr val="5B6770"/>
                </a:solidFill>
                <a:latin typeface="Calibri" pitchFamily="34" charset="0"/>
                <a:ea typeface="Calibri" pitchFamily="34" charset="-122"/>
                <a:cs typeface="Calibri" pitchFamily="34" charset="-120"/>
              </a:rPr>
              <a:t>Human visual inspection wastes time and misses defects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4F2"/>
        </a:solidFill>
        <a:effectLst/>
      </p:bgPr>
    </p:bg>
    <p:spTree>
      <p:nvGrpSpPr>
        <p:cNvPr id="1" name=""/>
        <p:cNvGrpSpPr/>
        <p:nvPr/>
      </p:nvGrpSpPr>
      <p:grpSpPr>
        <a:xfrm>
          <a:off x="0" y="0"/>
          <a:ext cx="0" cy="0"/>
          <a:chOff x="0" y="0"/>
          <a:chExt cx="0" cy="0"/>
        </a:xfrm>
      </p:grpSpPr>
      <p:sp>
        <p:nvSpPr>
          <p:cNvPr id="2" name="Text 0"/>
          <p:cNvSpPr/>
          <p:nvPr/>
        </p:nvSpPr>
        <p:spPr>
          <a:xfrm>
            <a:off x="640080" y="502920"/>
            <a:ext cx="10972800" cy="731520"/>
          </a:xfrm>
          <a:prstGeom prst="rect">
            <a:avLst/>
          </a:prstGeom>
          <a:noFill/>
          <a:ln/>
        </p:spPr>
        <p:txBody>
          <a:bodyPr wrap="square" rtlCol="0" anchor="ctr"/>
          <a:lstStyle/>
          <a:p>
            <a:pPr marL="0" indent="0">
              <a:buNone/>
            </a:pPr>
            <a:r>
              <a:rPr lang="en-US" sz="3800" b="1" dirty="0">
                <a:solidFill>
                  <a:srgbClr val="222629"/>
                </a:solidFill>
                <a:latin typeface="Cambria" pitchFamily="34" charset="0"/>
                <a:ea typeface="Cambria" pitchFamily="34" charset="-122"/>
                <a:cs typeface="Cambria" pitchFamily="34" charset="-120"/>
              </a:rPr>
              <a:t>Objective &amp; Scope</a:t>
            </a:r>
            <a:endParaRPr lang="en-US" sz="3800" dirty="0"/>
          </a:p>
        </p:txBody>
      </p:sp>
      <p:sp>
        <p:nvSpPr>
          <p:cNvPr id="3" name="Shape 1"/>
          <p:cNvSpPr/>
          <p:nvPr/>
        </p:nvSpPr>
        <p:spPr>
          <a:xfrm>
            <a:off x="640080" y="1371600"/>
            <a:ext cx="10881360" cy="1097280"/>
          </a:xfrm>
          <a:prstGeom prst="roundRect">
            <a:avLst>
              <a:gd name="adj" fmla="val 6667"/>
            </a:avLst>
          </a:prstGeom>
          <a:solidFill>
            <a:srgbClr val="2E3338"/>
          </a:solidFill>
          <a:ln/>
        </p:spPr>
        <p:txBody>
          <a:bodyPr/>
          <a:lstStyle/>
          <a:p>
            <a:endParaRPr lang="en-US"/>
          </a:p>
        </p:txBody>
      </p:sp>
      <p:sp>
        <p:nvSpPr>
          <p:cNvPr id="4" name="Text 2"/>
          <p:cNvSpPr/>
          <p:nvPr/>
        </p:nvSpPr>
        <p:spPr>
          <a:xfrm>
            <a:off x="914400" y="1371600"/>
            <a:ext cx="10332720" cy="1097280"/>
          </a:xfrm>
          <a:prstGeom prst="rect">
            <a:avLst/>
          </a:prstGeom>
          <a:noFill/>
          <a:ln/>
        </p:spPr>
        <p:txBody>
          <a:bodyPr wrap="square" rtlCol="0" anchor="ctr"/>
          <a:lstStyle/>
          <a:p>
            <a:pPr marL="0" indent="0">
              <a:lnSpc>
                <a:spcPct val="115000"/>
              </a:lnSpc>
              <a:buNone/>
            </a:pPr>
            <a:r>
              <a:rPr lang="en-US" sz="1600" b="1" dirty="0">
                <a:solidFill>
                  <a:srgbClr val="E8871E"/>
                </a:solidFill>
                <a:latin typeface="Calibri" pitchFamily="34" charset="0"/>
                <a:ea typeface="Calibri" pitchFamily="34" charset="-122"/>
                <a:cs typeface="Calibri" pitchFamily="34" charset="-120"/>
              </a:rPr>
              <a:t>Objective   </a:t>
            </a:r>
            <a:r>
              <a:rPr lang="en-US" sz="1600" dirty="0">
                <a:solidFill>
                  <a:srgbClr val="FFFFFF"/>
                </a:solidFill>
                <a:latin typeface="Calibri" pitchFamily="34" charset="0"/>
                <a:ea typeface="Calibri" pitchFamily="34" charset="-122"/>
                <a:cs typeface="Calibri" pitchFamily="34" charset="-120"/>
              </a:rPr>
              <a:t>Build an image-processing system that automatically detects and outlines cracks on concrete — and separates real structural cracks from normal rough texture or stains.</a:t>
            </a:r>
            <a:endParaRPr lang="en-US" sz="1600" dirty="0"/>
          </a:p>
        </p:txBody>
      </p:sp>
      <p:sp>
        <p:nvSpPr>
          <p:cNvPr id="5" name="Shape 3"/>
          <p:cNvSpPr/>
          <p:nvPr/>
        </p:nvSpPr>
        <p:spPr>
          <a:xfrm>
            <a:off x="640080" y="2788920"/>
            <a:ext cx="5349240" cy="1600200"/>
          </a:xfrm>
          <a:prstGeom prst="roundRect">
            <a:avLst>
              <a:gd name="adj" fmla="val 3429"/>
            </a:avLst>
          </a:prstGeom>
          <a:solidFill>
            <a:srgbClr val="FFFFFF"/>
          </a:solidFill>
          <a:ln w="12700">
            <a:solidFill>
              <a:srgbClr val="DDDDDD"/>
            </a:solidFill>
            <a:prstDash val="solid"/>
          </a:ln>
        </p:spPr>
        <p:txBody>
          <a:bodyPr/>
          <a:lstStyle/>
          <a:p>
            <a:endParaRPr lang="en-US"/>
          </a:p>
        </p:txBody>
      </p:sp>
      <p:sp>
        <p:nvSpPr>
          <p:cNvPr id="6" name="Shape 4"/>
          <p:cNvSpPr/>
          <p:nvPr/>
        </p:nvSpPr>
        <p:spPr>
          <a:xfrm>
            <a:off x="914400" y="3081528"/>
            <a:ext cx="128016" cy="128016"/>
          </a:xfrm>
          <a:prstGeom prst="rect">
            <a:avLst/>
          </a:prstGeom>
          <a:solidFill>
            <a:srgbClr val="E8871E"/>
          </a:solidFill>
          <a:ln/>
        </p:spPr>
        <p:txBody>
          <a:bodyPr/>
          <a:lstStyle/>
          <a:p>
            <a:endParaRPr lang="en-US"/>
          </a:p>
        </p:txBody>
      </p:sp>
      <p:sp>
        <p:nvSpPr>
          <p:cNvPr id="7" name="Text 5"/>
          <p:cNvSpPr/>
          <p:nvPr/>
        </p:nvSpPr>
        <p:spPr>
          <a:xfrm>
            <a:off x="1143000" y="2990088"/>
            <a:ext cx="4617720" cy="365760"/>
          </a:xfrm>
          <a:prstGeom prst="rect">
            <a:avLst/>
          </a:prstGeom>
          <a:noFill/>
          <a:ln/>
        </p:spPr>
        <p:txBody>
          <a:bodyPr wrap="square" rtlCol="0" anchor="ctr"/>
          <a:lstStyle/>
          <a:p>
            <a:pPr marL="0" indent="0">
              <a:buNone/>
            </a:pPr>
            <a:r>
              <a:rPr lang="en-US" sz="1900" b="1" dirty="0">
                <a:solidFill>
                  <a:srgbClr val="222629"/>
                </a:solidFill>
                <a:latin typeface="Cambria" pitchFamily="34" charset="0"/>
                <a:ea typeface="Cambria" pitchFamily="34" charset="-122"/>
                <a:cs typeface="Cambria" pitchFamily="34" charset="-120"/>
              </a:rPr>
              <a:t>Goal</a:t>
            </a:r>
            <a:endParaRPr lang="en-US" sz="1900" dirty="0"/>
          </a:p>
        </p:txBody>
      </p:sp>
      <p:sp>
        <p:nvSpPr>
          <p:cNvPr id="8" name="Text 6"/>
          <p:cNvSpPr/>
          <p:nvPr/>
        </p:nvSpPr>
        <p:spPr>
          <a:xfrm>
            <a:off x="914400" y="3447288"/>
            <a:ext cx="4800600" cy="822960"/>
          </a:xfrm>
          <a:prstGeom prst="rect">
            <a:avLst/>
          </a:prstGeom>
          <a:noFill/>
          <a:ln/>
        </p:spPr>
        <p:txBody>
          <a:bodyPr wrap="square" rtlCol="0" anchor="t"/>
          <a:lstStyle/>
          <a:p>
            <a:pPr marL="0" indent="0">
              <a:lnSpc>
                <a:spcPct val="115000"/>
              </a:lnSpc>
              <a:buNone/>
            </a:pPr>
            <a:r>
              <a:rPr lang="en-US" sz="1450" dirty="0">
                <a:solidFill>
                  <a:srgbClr val="5B6770"/>
                </a:solidFill>
                <a:latin typeface="Calibri" pitchFamily="34" charset="0"/>
                <a:ea typeface="Calibri" pitchFamily="34" charset="-122"/>
                <a:cs typeface="Calibri" pitchFamily="34" charset="-120"/>
              </a:rPr>
              <a:t>A prototype that takes a concrete photo and highlights crack regions as a mask</a:t>
            </a:r>
            <a:endParaRPr lang="en-US" sz="1450" dirty="0"/>
          </a:p>
        </p:txBody>
      </p:sp>
      <p:sp>
        <p:nvSpPr>
          <p:cNvPr id="9" name="Shape 7"/>
          <p:cNvSpPr/>
          <p:nvPr/>
        </p:nvSpPr>
        <p:spPr>
          <a:xfrm>
            <a:off x="6172200" y="2788920"/>
            <a:ext cx="5349240" cy="1600200"/>
          </a:xfrm>
          <a:prstGeom prst="roundRect">
            <a:avLst>
              <a:gd name="adj" fmla="val 3429"/>
            </a:avLst>
          </a:prstGeom>
          <a:solidFill>
            <a:srgbClr val="FFFFFF"/>
          </a:solidFill>
          <a:ln w="12700">
            <a:solidFill>
              <a:srgbClr val="DDDDDD"/>
            </a:solidFill>
            <a:prstDash val="solid"/>
          </a:ln>
        </p:spPr>
        <p:txBody>
          <a:bodyPr/>
          <a:lstStyle/>
          <a:p>
            <a:endParaRPr lang="en-US"/>
          </a:p>
        </p:txBody>
      </p:sp>
      <p:sp>
        <p:nvSpPr>
          <p:cNvPr id="10" name="Shape 8"/>
          <p:cNvSpPr/>
          <p:nvPr/>
        </p:nvSpPr>
        <p:spPr>
          <a:xfrm>
            <a:off x="6446520" y="3081528"/>
            <a:ext cx="128016" cy="128016"/>
          </a:xfrm>
          <a:prstGeom prst="rect">
            <a:avLst/>
          </a:prstGeom>
          <a:solidFill>
            <a:srgbClr val="E8871E"/>
          </a:solidFill>
          <a:ln/>
        </p:spPr>
        <p:txBody>
          <a:bodyPr/>
          <a:lstStyle/>
          <a:p>
            <a:endParaRPr lang="en-US"/>
          </a:p>
        </p:txBody>
      </p:sp>
      <p:sp>
        <p:nvSpPr>
          <p:cNvPr id="11" name="Text 9"/>
          <p:cNvSpPr/>
          <p:nvPr/>
        </p:nvSpPr>
        <p:spPr>
          <a:xfrm>
            <a:off x="6675120" y="2990088"/>
            <a:ext cx="4617720" cy="365760"/>
          </a:xfrm>
          <a:prstGeom prst="rect">
            <a:avLst/>
          </a:prstGeom>
          <a:noFill/>
          <a:ln/>
        </p:spPr>
        <p:txBody>
          <a:bodyPr wrap="square" rtlCol="0" anchor="ctr"/>
          <a:lstStyle/>
          <a:p>
            <a:pPr marL="0" indent="0">
              <a:buNone/>
            </a:pPr>
            <a:r>
              <a:rPr lang="en-US" sz="1900" b="1" dirty="0">
                <a:solidFill>
                  <a:srgbClr val="222629"/>
                </a:solidFill>
                <a:latin typeface="Cambria" pitchFamily="34" charset="0"/>
                <a:ea typeface="Cambria" pitchFamily="34" charset="-122"/>
                <a:cs typeface="Cambria" pitchFamily="34" charset="-120"/>
              </a:rPr>
              <a:t>Technique</a:t>
            </a:r>
            <a:endParaRPr lang="en-US" sz="1900" dirty="0"/>
          </a:p>
        </p:txBody>
      </p:sp>
      <p:sp>
        <p:nvSpPr>
          <p:cNvPr id="12" name="Text 10"/>
          <p:cNvSpPr/>
          <p:nvPr/>
        </p:nvSpPr>
        <p:spPr>
          <a:xfrm>
            <a:off x="6446520" y="3447288"/>
            <a:ext cx="4800600" cy="822960"/>
          </a:xfrm>
          <a:prstGeom prst="rect">
            <a:avLst/>
          </a:prstGeom>
          <a:noFill/>
          <a:ln/>
        </p:spPr>
        <p:txBody>
          <a:bodyPr wrap="square" rtlCol="0" anchor="t"/>
          <a:lstStyle/>
          <a:p>
            <a:pPr marL="0" indent="0">
              <a:lnSpc>
                <a:spcPct val="115000"/>
              </a:lnSpc>
              <a:buNone/>
            </a:pPr>
            <a:r>
              <a:rPr lang="en-US" sz="1450" dirty="0">
                <a:solidFill>
                  <a:srgbClr val="5B6770"/>
                </a:solidFill>
                <a:latin typeface="Calibri" pitchFamily="34" charset="0"/>
                <a:ea typeface="Calibri" pitchFamily="34" charset="-122"/>
                <a:cs typeface="Calibri" pitchFamily="34" charset="-120"/>
              </a:rPr>
              <a:t>Traditional image processing first — no large deep-learning model, to prove the math</a:t>
            </a:r>
            <a:endParaRPr lang="en-US" sz="1450" dirty="0"/>
          </a:p>
        </p:txBody>
      </p:sp>
      <p:sp>
        <p:nvSpPr>
          <p:cNvPr id="13" name="Shape 11"/>
          <p:cNvSpPr/>
          <p:nvPr/>
        </p:nvSpPr>
        <p:spPr>
          <a:xfrm>
            <a:off x="640080" y="4572000"/>
            <a:ext cx="5349240" cy="1600200"/>
          </a:xfrm>
          <a:prstGeom prst="roundRect">
            <a:avLst>
              <a:gd name="adj" fmla="val 3429"/>
            </a:avLst>
          </a:prstGeom>
          <a:solidFill>
            <a:srgbClr val="FFFFFF"/>
          </a:solidFill>
          <a:ln w="12700">
            <a:solidFill>
              <a:srgbClr val="DDDDDD"/>
            </a:solidFill>
            <a:prstDash val="solid"/>
          </a:ln>
        </p:spPr>
        <p:txBody>
          <a:bodyPr/>
          <a:lstStyle/>
          <a:p>
            <a:endParaRPr lang="en-US"/>
          </a:p>
        </p:txBody>
      </p:sp>
      <p:sp>
        <p:nvSpPr>
          <p:cNvPr id="14" name="Shape 12"/>
          <p:cNvSpPr/>
          <p:nvPr/>
        </p:nvSpPr>
        <p:spPr>
          <a:xfrm>
            <a:off x="914400" y="4864608"/>
            <a:ext cx="128016" cy="128016"/>
          </a:xfrm>
          <a:prstGeom prst="rect">
            <a:avLst/>
          </a:prstGeom>
          <a:solidFill>
            <a:srgbClr val="E8871E"/>
          </a:solidFill>
          <a:ln/>
        </p:spPr>
        <p:txBody>
          <a:bodyPr/>
          <a:lstStyle/>
          <a:p>
            <a:endParaRPr lang="en-US"/>
          </a:p>
        </p:txBody>
      </p:sp>
      <p:sp>
        <p:nvSpPr>
          <p:cNvPr id="15" name="Text 13"/>
          <p:cNvSpPr/>
          <p:nvPr/>
        </p:nvSpPr>
        <p:spPr>
          <a:xfrm>
            <a:off x="1143000" y="4773168"/>
            <a:ext cx="4617720" cy="365760"/>
          </a:xfrm>
          <a:prstGeom prst="rect">
            <a:avLst/>
          </a:prstGeom>
          <a:noFill/>
          <a:ln/>
        </p:spPr>
        <p:txBody>
          <a:bodyPr wrap="square" rtlCol="0" anchor="ctr"/>
          <a:lstStyle/>
          <a:p>
            <a:pPr marL="0" indent="0">
              <a:buNone/>
            </a:pPr>
            <a:r>
              <a:rPr lang="en-US" sz="1900" b="1" dirty="0">
                <a:solidFill>
                  <a:srgbClr val="222629"/>
                </a:solidFill>
                <a:latin typeface="Cambria" pitchFamily="34" charset="0"/>
                <a:ea typeface="Cambria" pitchFamily="34" charset="-122"/>
                <a:cs typeface="Cambria" pitchFamily="34" charset="-120"/>
              </a:rPr>
              <a:t>Dataset</a:t>
            </a:r>
            <a:endParaRPr lang="en-US" sz="1900" dirty="0"/>
          </a:p>
        </p:txBody>
      </p:sp>
      <p:sp>
        <p:nvSpPr>
          <p:cNvPr id="16" name="Text 14"/>
          <p:cNvSpPr/>
          <p:nvPr/>
        </p:nvSpPr>
        <p:spPr>
          <a:xfrm>
            <a:off x="914400" y="5230368"/>
            <a:ext cx="4800600" cy="822960"/>
          </a:xfrm>
          <a:prstGeom prst="rect">
            <a:avLst/>
          </a:prstGeom>
          <a:noFill/>
          <a:ln/>
        </p:spPr>
        <p:txBody>
          <a:bodyPr wrap="square" rtlCol="0" anchor="t"/>
          <a:lstStyle/>
          <a:p>
            <a:pPr marL="0" indent="0">
              <a:lnSpc>
                <a:spcPct val="115000"/>
              </a:lnSpc>
              <a:buNone/>
            </a:pPr>
            <a:r>
              <a:rPr lang="en-US" sz="1450" dirty="0">
                <a:solidFill>
                  <a:srgbClr val="5B6770"/>
                </a:solidFill>
                <a:latin typeface="Calibri" pitchFamily="34" charset="0"/>
                <a:ea typeface="Calibri" pitchFamily="34" charset="-122"/>
                <a:cs typeface="Calibri" pitchFamily="34" charset="-120"/>
              </a:rPr>
              <a:t>Public sets with pixel-level ground-truth masks: CrackForest, Crack500, DeepCrack</a:t>
            </a:r>
            <a:endParaRPr lang="en-US" sz="1450" dirty="0"/>
          </a:p>
        </p:txBody>
      </p:sp>
      <p:sp>
        <p:nvSpPr>
          <p:cNvPr id="17" name="Shape 15"/>
          <p:cNvSpPr/>
          <p:nvPr/>
        </p:nvSpPr>
        <p:spPr>
          <a:xfrm>
            <a:off x="6172200" y="4572000"/>
            <a:ext cx="5349240" cy="1600200"/>
          </a:xfrm>
          <a:prstGeom prst="roundRect">
            <a:avLst>
              <a:gd name="adj" fmla="val 3429"/>
            </a:avLst>
          </a:prstGeom>
          <a:solidFill>
            <a:srgbClr val="FFFFFF"/>
          </a:solidFill>
          <a:ln w="12700">
            <a:solidFill>
              <a:srgbClr val="DDDDDD"/>
            </a:solidFill>
            <a:prstDash val="solid"/>
          </a:ln>
        </p:spPr>
        <p:txBody>
          <a:bodyPr/>
          <a:lstStyle/>
          <a:p>
            <a:endParaRPr lang="en-US"/>
          </a:p>
        </p:txBody>
      </p:sp>
      <p:sp>
        <p:nvSpPr>
          <p:cNvPr id="18" name="Shape 16"/>
          <p:cNvSpPr/>
          <p:nvPr/>
        </p:nvSpPr>
        <p:spPr>
          <a:xfrm>
            <a:off x="6446520" y="4864608"/>
            <a:ext cx="128016" cy="128016"/>
          </a:xfrm>
          <a:prstGeom prst="rect">
            <a:avLst/>
          </a:prstGeom>
          <a:solidFill>
            <a:srgbClr val="E8871E"/>
          </a:solidFill>
          <a:ln/>
        </p:spPr>
        <p:txBody>
          <a:bodyPr/>
          <a:lstStyle/>
          <a:p>
            <a:endParaRPr lang="en-US"/>
          </a:p>
        </p:txBody>
      </p:sp>
      <p:sp>
        <p:nvSpPr>
          <p:cNvPr id="19" name="Text 17"/>
          <p:cNvSpPr/>
          <p:nvPr/>
        </p:nvSpPr>
        <p:spPr>
          <a:xfrm>
            <a:off x="6675120" y="4773168"/>
            <a:ext cx="4617720" cy="365760"/>
          </a:xfrm>
          <a:prstGeom prst="rect">
            <a:avLst/>
          </a:prstGeom>
          <a:noFill/>
          <a:ln/>
        </p:spPr>
        <p:txBody>
          <a:bodyPr wrap="square" rtlCol="0" anchor="ctr"/>
          <a:lstStyle/>
          <a:p>
            <a:pPr marL="0" indent="0">
              <a:buNone/>
            </a:pPr>
            <a:r>
              <a:rPr lang="en-US" sz="1900" b="1" dirty="0">
                <a:solidFill>
                  <a:srgbClr val="222629"/>
                </a:solidFill>
                <a:latin typeface="Cambria" pitchFamily="34" charset="0"/>
                <a:ea typeface="Cambria" pitchFamily="34" charset="-122"/>
                <a:cs typeface="Cambria" pitchFamily="34" charset="-120"/>
              </a:rPr>
              <a:t>Team scale</a:t>
            </a:r>
            <a:endParaRPr lang="en-US" sz="1900" dirty="0"/>
          </a:p>
        </p:txBody>
      </p:sp>
      <p:sp>
        <p:nvSpPr>
          <p:cNvPr id="20" name="Text 18"/>
          <p:cNvSpPr/>
          <p:nvPr/>
        </p:nvSpPr>
        <p:spPr>
          <a:xfrm>
            <a:off x="6446520" y="5230368"/>
            <a:ext cx="4800600" cy="822960"/>
          </a:xfrm>
          <a:prstGeom prst="rect">
            <a:avLst/>
          </a:prstGeom>
          <a:noFill/>
          <a:ln/>
        </p:spPr>
        <p:txBody>
          <a:bodyPr wrap="square" rtlCol="0" anchor="t"/>
          <a:lstStyle/>
          <a:p>
            <a:pPr marL="0" indent="0">
              <a:lnSpc>
                <a:spcPct val="115000"/>
              </a:lnSpc>
              <a:buNone/>
            </a:pPr>
            <a:r>
              <a:rPr lang="en-US" sz="1450" dirty="0">
                <a:solidFill>
                  <a:srgbClr val="5B6770"/>
                </a:solidFill>
                <a:latin typeface="Calibri" pitchFamily="34" charset="0"/>
                <a:ea typeface="Calibri" pitchFamily="34" charset="-122"/>
                <a:cs typeface="Calibri" pitchFamily="34" charset="-120"/>
              </a:rPr>
              <a:t>Designed for a 2–3 person team: image prep, algorithm tuning, evaluation</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2"/>
        </a:solidFill>
        <a:effectLst/>
      </p:bgPr>
    </p:bg>
    <p:spTree>
      <p:nvGrpSpPr>
        <p:cNvPr id="1" name=""/>
        <p:cNvGrpSpPr/>
        <p:nvPr/>
      </p:nvGrpSpPr>
      <p:grpSpPr>
        <a:xfrm>
          <a:off x="0" y="0"/>
          <a:ext cx="0" cy="0"/>
          <a:chOff x="0" y="0"/>
          <a:chExt cx="0" cy="0"/>
        </a:xfrm>
      </p:grpSpPr>
      <p:sp>
        <p:nvSpPr>
          <p:cNvPr id="2" name="Text 0"/>
          <p:cNvSpPr/>
          <p:nvPr/>
        </p:nvSpPr>
        <p:spPr>
          <a:xfrm>
            <a:off x="640080" y="502920"/>
            <a:ext cx="10972800" cy="731520"/>
          </a:xfrm>
          <a:prstGeom prst="rect">
            <a:avLst/>
          </a:prstGeom>
          <a:noFill/>
          <a:ln/>
        </p:spPr>
        <p:txBody>
          <a:bodyPr wrap="square" rtlCol="0" anchor="ctr"/>
          <a:lstStyle/>
          <a:p>
            <a:pPr marL="0" indent="0">
              <a:buNone/>
            </a:pPr>
            <a:r>
              <a:rPr lang="en-US" sz="3800" b="1" dirty="0">
                <a:solidFill>
                  <a:srgbClr val="222629"/>
                </a:solidFill>
                <a:latin typeface="Cambria" pitchFamily="34" charset="0"/>
                <a:ea typeface="Cambria" pitchFamily="34" charset="-122"/>
                <a:cs typeface="Cambria" pitchFamily="34" charset="-120"/>
              </a:rPr>
              <a:t>Method — 4-Step Pipeline</a:t>
            </a:r>
            <a:endParaRPr lang="en-US" sz="3800" dirty="0"/>
          </a:p>
        </p:txBody>
      </p:sp>
      <p:sp>
        <p:nvSpPr>
          <p:cNvPr id="3" name="Text 1"/>
          <p:cNvSpPr/>
          <p:nvPr/>
        </p:nvSpPr>
        <p:spPr>
          <a:xfrm>
            <a:off x="658368" y="1234440"/>
            <a:ext cx="10972800" cy="457200"/>
          </a:xfrm>
          <a:prstGeom prst="rect">
            <a:avLst/>
          </a:prstGeom>
          <a:noFill/>
          <a:ln/>
        </p:spPr>
        <p:txBody>
          <a:bodyPr wrap="square" rtlCol="0" anchor="ctr"/>
          <a:lstStyle/>
          <a:p>
            <a:pPr marL="0" indent="0">
              <a:buNone/>
            </a:pPr>
            <a:r>
              <a:rPr lang="en-US" sz="1700" i="1" dirty="0">
                <a:solidFill>
                  <a:srgbClr val="5B6770"/>
                </a:solidFill>
                <a:latin typeface="Calibri" pitchFamily="34" charset="0"/>
                <a:ea typeface="Calibri" pitchFamily="34" charset="-122"/>
                <a:cs typeface="Calibri" pitchFamily="34" charset="-120"/>
              </a:rPr>
              <a:t>From raw photo to a clean crack mask</a:t>
            </a:r>
            <a:endParaRPr lang="en-US" sz="1700" dirty="0"/>
          </a:p>
        </p:txBody>
      </p:sp>
      <p:sp>
        <p:nvSpPr>
          <p:cNvPr id="4" name="Shape 2"/>
          <p:cNvSpPr/>
          <p:nvPr/>
        </p:nvSpPr>
        <p:spPr>
          <a:xfrm>
            <a:off x="640080" y="2331720"/>
            <a:ext cx="2514600" cy="3108960"/>
          </a:xfrm>
          <a:prstGeom prst="roundRect">
            <a:avLst>
              <a:gd name="adj" fmla="val 2545"/>
            </a:avLst>
          </a:prstGeom>
          <a:solidFill>
            <a:srgbClr val="FFFFFF"/>
          </a:solidFill>
          <a:ln w="12700">
            <a:solidFill>
              <a:srgbClr val="DDDDDD"/>
            </a:solidFill>
            <a:prstDash val="solid"/>
          </a:ln>
          <a:effectLst>
            <a:outerShdw blurRad="76200" dist="25400" dir="5400000" algn="bl" rotWithShape="0">
              <a:srgbClr val="BBBBBB">
                <a:alpha val="45000"/>
              </a:srgbClr>
            </a:outerShdw>
          </a:effectLst>
        </p:spPr>
        <p:txBody>
          <a:bodyPr/>
          <a:lstStyle/>
          <a:p>
            <a:endParaRPr lang="en-US"/>
          </a:p>
        </p:txBody>
      </p:sp>
      <p:sp>
        <p:nvSpPr>
          <p:cNvPr id="5" name="Shape 3"/>
          <p:cNvSpPr/>
          <p:nvPr/>
        </p:nvSpPr>
        <p:spPr>
          <a:xfrm>
            <a:off x="1531620" y="2651760"/>
            <a:ext cx="731520" cy="731520"/>
          </a:xfrm>
          <a:prstGeom prst="ellipse">
            <a:avLst/>
          </a:prstGeom>
          <a:solidFill>
            <a:srgbClr val="E8871E"/>
          </a:solidFill>
          <a:ln/>
        </p:spPr>
        <p:txBody>
          <a:bodyPr/>
          <a:lstStyle/>
          <a:p>
            <a:endParaRPr lang="en-US"/>
          </a:p>
        </p:txBody>
      </p:sp>
      <p:sp>
        <p:nvSpPr>
          <p:cNvPr id="6" name="Text 4"/>
          <p:cNvSpPr/>
          <p:nvPr/>
        </p:nvSpPr>
        <p:spPr>
          <a:xfrm>
            <a:off x="1531620" y="2651760"/>
            <a:ext cx="731520" cy="73152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822960" y="3566160"/>
            <a:ext cx="2148840" cy="777240"/>
          </a:xfrm>
          <a:prstGeom prst="rect">
            <a:avLst/>
          </a:prstGeom>
          <a:noFill/>
          <a:ln/>
        </p:spPr>
        <p:txBody>
          <a:bodyPr wrap="square" rtlCol="0" anchor="ctr"/>
          <a:lstStyle/>
          <a:p>
            <a:pPr marL="0" indent="0" algn="ctr">
              <a:lnSpc>
                <a:spcPct val="100000"/>
              </a:lnSpc>
              <a:buNone/>
            </a:pPr>
            <a:r>
              <a:rPr lang="en-US" sz="1700" b="1" dirty="0">
                <a:solidFill>
                  <a:srgbClr val="222629"/>
                </a:solidFill>
                <a:latin typeface="Cambria" pitchFamily="34" charset="0"/>
                <a:ea typeface="Cambria" pitchFamily="34" charset="-122"/>
                <a:cs typeface="Cambria" pitchFamily="34" charset="-120"/>
              </a:rPr>
              <a:t>Pre-processing</a:t>
            </a:r>
            <a:endParaRPr lang="en-US" sz="1700" dirty="0"/>
          </a:p>
        </p:txBody>
      </p:sp>
      <p:sp>
        <p:nvSpPr>
          <p:cNvPr id="8" name="Text 6"/>
          <p:cNvSpPr/>
          <p:nvPr/>
        </p:nvSpPr>
        <p:spPr>
          <a:xfrm>
            <a:off x="868680" y="4343400"/>
            <a:ext cx="2057400" cy="960120"/>
          </a:xfrm>
          <a:prstGeom prst="rect">
            <a:avLst/>
          </a:prstGeom>
          <a:noFill/>
          <a:ln/>
        </p:spPr>
        <p:txBody>
          <a:bodyPr wrap="square" rtlCol="0" anchor="t"/>
          <a:lstStyle/>
          <a:p>
            <a:pPr marL="0" indent="0" algn="ctr">
              <a:lnSpc>
                <a:spcPct val="115000"/>
              </a:lnSpc>
              <a:buNone/>
            </a:pPr>
            <a:r>
              <a:rPr lang="en-US" sz="1300" dirty="0">
                <a:solidFill>
                  <a:srgbClr val="5B6770"/>
                </a:solidFill>
                <a:latin typeface="Calibri" pitchFamily="34" charset="0"/>
                <a:ea typeface="Calibri" pitchFamily="34" charset="-122"/>
                <a:cs typeface="Calibri" pitchFamily="34" charset="-120"/>
              </a:rPr>
              <a:t>Grayscale, Gaussian blur to cut noise, CLAHE contrast so dark cracks stand out</a:t>
            </a:r>
            <a:endParaRPr lang="en-US" sz="1300" dirty="0"/>
          </a:p>
        </p:txBody>
      </p:sp>
      <p:sp>
        <p:nvSpPr>
          <p:cNvPr id="9" name="Shape 7"/>
          <p:cNvSpPr/>
          <p:nvPr/>
        </p:nvSpPr>
        <p:spPr>
          <a:xfrm>
            <a:off x="3163824" y="3739896"/>
            <a:ext cx="237744" cy="292608"/>
          </a:xfrm>
          <a:prstGeom prst="rightArrow">
            <a:avLst/>
          </a:prstGeom>
          <a:solidFill>
            <a:srgbClr val="E8871E"/>
          </a:solidFill>
          <a:ln/>
        </p:spPr>
        <p:txBody>
          <a:bodyPr/>
          <a:lstStyle/>
          <a:p>
            <a:endParaRPr lang="en-US"/>
          </a:p>
        </p:txBody>
      </p:sp>
      <p:sp>
        <p:nvSpPr>
          <p:cNvPr id="10" name="Shape 8"/>
          <p:cNvSpPr/>
          <p:nvPr/>
        </p:nvSpPr>
        <p:spPr>
          <a:xfrm>
            <a:off x="3429000" y="2331720"/>
            <a:ext cx="2514600" cy="3108960"/>
          </a:xfrm>
          <a:prstGeom prst="roundRect">
            <a:avLst>
              <a:gd name="adj" fmla="val 2545"/>
            </a:avLst>
          </a:prstGeom>
          <a:solidFill>
            <a:srgbClr val="FFFFFF"/>
          </a:solidFill>
          <a:ln w="12700">
            <a:solidFill>
              <a:srgbClr val="DDDDDD"/>
            </a:solidFill>
            <a:prstDash val="solid"/>
          </a:ln>
          <a:effectLst>
            <a:outerShdw blurRad="76200" dist="25400" dir="5400000" algn="bl" rotWithShape="0">
              <a:srgbClr val="BBBBBB">
                <a:alpha val="45000"/>
              </a:srgbClr>
            </a:outerShdw>
          </a:effectLst>
        </p:spPr>
        <p:txBody>
          <a:bodyPr/>
          <a:lstStyle/>
          <a:p>
            <a:endParaRPr lang="en-US"/>
          </a:p>
        </p:txBody>
      </p:sp>
      <p:sp>
        <p:nvSpPr>
          <p:cNvPr id="11" name="Shape 9"/>
          <p:cNvSpPr/>
          <p:nvPr/>
        </p:nvSpPr>
        <p:spPr>
          <a:xfrm>
            <a:off x="4320540" y="2651760"/>
            <a:ext cx="731520" cy="731520"/>
          </a:xfrm>
          <a:prstGeom prst="ellipse">
            <a:avLst/>
          </a:prstGeom>
          <a:solidFill>
            <a:srgbClr val="E8871E"/>
          </a:solidFill>
          <a:ln/>
        </p:spPr>
        <p:txBody>
          <a:bodyPr/>
          <a:lstStyle/>
          <a:p>
            <a:endParaRPr lang="en-US"/>
          </a:p>
        </p:txBody>
      </p:sp>
      <p:sp>
        <p:nvSpPr>
          <p:cNvPr id="12" name="Text 10"/>
          <p:cNvSpPr/>
          <p:nvPr/>
        </p:nvSpPr>
        <p:spPr>
          <a:xfrm>
            <a:off x="4320540" y="2651760"/>
            <a:ext cx="731520" cy="73152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3" name="Text 11"/>
          <p:cNvSpPr/>
          <p:nvPr/>
        </p:nvSpPr>
        <p:spPr>
          <a:xfrm>
            <a:off x="3611880" y="3566160"/>
            <a:ext cx="2148840" cy="777240"/>
          </a:xfrm>
          <a:prstGeom prst="rect">
            <a:avLst/>
          </a:prstGeom>
          <a:noFill/>
          <a:ln/>
        </p:spPr>
        <p:txBody>
          <a:bodyPr wrap="square" rtlCol="0" anchor="ctr"/>
          <a:lstStyle/>
          <a:p>
            <a:pPr marL="0" indent="0" algn="ctr">
              <a:lnSpc>
                <a:spcPct val="100000"/>
              </a:lnSpc>
              <a:buNone/>
            </a:pPr>
            <a:r>
              <a:rPr lang="en-US" sz="1700" b="1" dirty="0">
                <a:solidFill>
                  <a:srgbClr val="222629"/>
                </a:solidFill>
                <a:latin typeface="Cambria" pitchFamily="34" charset="0"/>
                <a:ea typeface="Cambria" pitchFamily="34" charset="-122"/>
                <a:cs typeface="Cambria" pitchFamily="34" charset="-120"/>
              </a:rPr>
              <a:t>Segmentation</a:t>
            </a:r>
            <a:endParaRPr lang="en-US" sz="1700" dirty="0"/>
          </a:p>
        </p:txBody>
      </p:sp>
      <p:sp>
        <p:nvSpPr>
          <p:cNvPr id="14" name="Text 12"/>
          <p:cNvSpPr/>
          <p:nvPr/>
        </p:nvSpPr>
        <p:spPr>
          <a:xfrm>
            <a:off x="3657600" y="4343400"/>
            <a:ext cx="2057400" cy="960120"/>
          </a:xfrm>
          <a:prstGeom prst="rect">
            <a:avLst/>
          </a:prstGeom>
          <a:noFill/>
          <a:ln/>
        </p:spPr>
        <p:txBody>
          <a:bodyPr wrap="square" rtlCol="0" anchor="t"/>
          <a:lstStyle/>
          <a:p>
            <a:pPr marL="0" indent="0" algn="ctr">
              <a:lnSpc>
                <a:spcPct val="115000"/>
              </a:lnSpc>
              <a:buNone/>
            </a:pPr>
            <a:r>
              <a:rPr lang="en-US" sz="1300" dirty="0">
                <a:solidFill>
                  <a:srgbClr val="5B6770"/>
                </a:solidFill>
                <a:latin typeface="Calibri" pitchFamily="34" charset="0"/>
                <a:ea typeface="Calibri" pitchFamily="34" charset="-122"/>
                <a:cs typeface="Calibri" pitchFamily="34" charset="-120"/>
              </a:rPr>
              <a:t>Adaptive Thresholding (vs. Otsu) isolates dark pixels into a binary mask</a:t>
            </a:r>
            <a:endParaRPr lang="en-US" sz="1300" dirty="0"/>
          </a:p>
        </p:txBody>
      </p:sp>
      <p:sp>
        <p:nvSpPr>
          <p:cNvPr id="15" name="Shape 13"/>
          <p:cNvSpPr/>
          <p:nvPr/>
        </p:nvSpPr>
        <p:spPr>
          <a:xfrm>
            <a:off x="5952744" y="3739896"/>
            <a:ext cx="237744" cy="292608"/>
          </a:xfrm>
          <a:prstGeom prst="rightArrow">
            <a:avLst/>
          </a:prstGeom>
          <a:solidFill>
            <a:srgbClr val="E8871E"/>
          </a:solidFill>
          <a:ln/>
        </p:spPr>
        <p:txBody>
          <a:bodyPr/>
          <a:lstStyle/>
          <a:p>
            <a:endParaRPr lang="en-US"/>
          </a:p>
        </p:txBody>
      </p:sp>
      <p:sp>
        <p:nvSpPr>
          <p:cNvPr id="16" name="Shape 14"/>
          <p:cNvSpPr/>
          <p:nvPr/>
        </p:nvSpPr>
        <p:spPr>
          <a:xfrm>
            <a:off x="6217920" y="2331720"/>
            <a:ext cx="2514600" cy="3108960"/>
          </a:xfrm>
          <a:prstGeom prst="roundRect">
            <a:avLst>
              <a:gd name="adj" fmla="val 2545"/>
            </a:avLst>
          </a:prstGeom>
          <a:solidFill>
            <a:srgbClr val="FFFFFF"/>
          </a:solidFill>
          <a:ln w="12700">
            <a:solidFill>
              <a:srgbClr val="DDDDDD"/>
            </a:solidFill>
            <a:prstDash val="solid"/>
          </a:ln>
          <a:effectLst>
            <a:outerShdw blurRad="76200" dist="25400" dir="5400000" algn="bl" rotWithShape="0">
              <a:srgbClr val="BBBBBB">
                <a:alpha val="45000"/>
              </a:srgbClr>
            </a:outerShdw>
          </a:effectLst>
        </p:spPr>
        <p:txBody>
          <a:bodyPr/>
          <a:lstStyle/>
          <a:p>
            <a:endParaRPr lang="en-US"/>
          </a:p>
        </p:txBody>
      </p:sp>
      <p:sp>
        <p:nvSpPr>
          <p:cNvPr id="17" name="Shape 15"/>
          <p:cNvSpPr/>
          <p:nvPr/>
        </p:nvSpPr>
        <p:spPr>
          <a:xfrm>
            <a:off x="7109460" y="2651760"/>
            <a:ext cx="731520" cy="731520"/>
          </a:xfrm>
          <a:prstGeom prst="ellipse">
            <a:avLst/>
          </a:prstGeom>
          <a:solidFill>
            <a:srgbClr val="E8871E"/>
          </a:solidFill>
          <a:ln/>
        </p:spPr>
        <p:txBody>
          <a:bodyPr/>
          <a:lstStyle/>
          <a:p>
            <a:endParaRPr lang="en-US"/>
          </a:p>
        </p:txBody>
      </p:sp>
      <p:sp>
        <p:nvSpPr>
          <p:cNvPr id="18" name="Text 16"/>
          <p:cNvSpPr/>
          <p:nvPr/>
        </p:nvSpPr>
        <p:spPr>
          <a:xfrm>
            <a:off x="7109460" y="2651760"/>
            <a:ext cx="731520" cy="73152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9" name="Text 17"/>
          <p:cNvSpPr/>
          <p:nvPr/>
        </p:nvSpPr>
        <p:spPr>
          <a:xfrm>
            <a:off x="6400800" y="3566160"/>
            <a:ext cx="2148840" cy="777240"/>
          </a:xfrm>
          <a:prstGeom prst="rect">
            <a:avLst/>
          </a:prstGeom>
          <a:noFill/>
          <a:ln/>
        </p:spPr>
        <p:txBody>
          <a:bodyPr wrap="square" rtlCol="0" anchor="ctr"/>
          <a:lstStyle/>
          <a:p>
            <a:pPr marL="0" indent="0" algn="ctr">
              <a:lnSpc>
                <a:spcPct val="100000"/>
              </a:lnSpc>
              <a:buNone/>
            </a:pPr>
            <a:r>
              <a:rPr lang="en-US" sz="1700" b="1" dirty="0">
                <a:solidFill>
                  <a:srgbClr val="222629"/>
                </a:solidFill>
                <a:latin typeface="Cambria" pitchFamily="34" charset="0"/>
                <a:ea typeface="Cambria" pitchFamily="34" charset="-122"/>
                <a:cs typeface="Cambria" pitchFamily="34" charset="-120"/>
              </a:rPr>
              <a:t>Morphological Filtering</a:t>
            </a:r>
            <a:endParaRPr lang="en-US" sz="1700" dirty="0"/>
          </a:p>
        </p:txBody>
      </p:sp>
      <p:sp>
        <p:nvSpPr>
          <p:cNvPr id="20" name="Text 18"/>
          <p:cNvSpPr/>
          <p:nvPr/>
        </p:nvSpPr>
        <p:spPr>
          <a:xfrm>
            <a:off x="6446520" y="4343400"/>
            <a:ext cx="2057400" cy="960120"/>
          </a:xfrm>
          <a:prstGeom prst="rect">
            <a:avLst/>
          </a:prstGeom>
          <a:noFill/>
          <a:ln/>
        </p:spPr>
        <p:txBody>
          <a:bodyPr wrap="square" rtlCol="0" anchor="t"/>
          <a:lstStyle/>
          <a:p>
            <a:pPr marL="0" indent="0" algn="ctr">
              <a:lnSpc>
                <a:spcPct val="115000"/>
              </a:lnSpc>
              <a:buNone/>
            </a:pPr>
            <a:r>
              <a:rPr lang="en-US" sz="1300" dirty="0">
                <a:solidFill>
                  <a:srgbClr val="5B6770"/>
                </a:solidFill>
                <a:latin typeface="Calibri" pitchFamily="34" charset="0"/>
                <a:ea typeface="Calibri" pitchFamily="34" charset="-122"/>
                <a:cs typeface="Calibri" pitchFamily="34" charset="-120"/>
              </a:rPr>
              <a:t>Closing reconnects broken cracks; Opening removes small noise blobs</a:t>
            </a:r>
            <a:endParaRPr lang="en-US" sz="1300" dirty="0"/>
          </a:p>
        </p:txBody>
      </p:sp>
      <p:sp>
        <p:nvSpPr>
          <p:cNvPr id="21" name="Shape 19"/>
          <p:cNvSpPr/>
          <p:nvPr/>
        </p:nvSpPr>
        <p:spPr>
          <a:xfrm>
            <a:off x="8741664" y="3739896"/>
            <a:ext cx="237744" cy="292608"/>
          </a:xfrm>
          <a:prstGeom prst="rightArrow">
            <a:avLst/>
          </a:prstGeom>
          <a:solidFill>
            <a:srgbClr val="E8871E"/>
          </a:solidFill>
          <a:ln/>
        </p:spPr>
        <p:txBody>
          <a:bodyPr/>
          <a:lstStyle/>
          <a:p>
            <a:endParaRPr lang="en-US"/>
          </a:p>
        </p:txBody>
      </p:sp>
      <p:sp>
        <p:nvSpPr>
          <p:cNvPr id="22" name="Shape 20"/>
          <p:cNvSpPr/>
          <p:nvPr/>
        </p:nvSpPr>
        <p:spPr>
          <a:xfrm>
            <a:off x="9006840" y="2331720"/>
            <a:ext cx="2514600" cy="3108960"/>
          </a:xfrm>
          <a:prstGeom prst="roundRect">
            <a:avLst>
              <a:gd name="adj" fmla="val 2545"/>
            </a:avLst>
          </a:prstGeom>
          <a:solidFill>
            <a:srgbClr val="FFFFFF"/>
          </a:solidFill>
          <a:ln w="12700">
            <a:solidFill>
              <a:srgbClr val="DDDDDD"/>
            </a:solidFill>
            <a:prstDash val="solid"/>
          </a:ln>
          <a:effectLst>
            <a:outerShdw blurRad="76200" dist="25400" dir="5400000" algn="bl" rotWithShape="0">
              <a:srgbClr val="BBBBBB">
                <a:alpha val="45000"/>
              </a:srgbClr>
            </a:outerShdw>
          </a:effectLst>
        </p:spPr>
        <p:txBody>
          <a:bodyPr/>
          <a:lstStyle/>
          <a:p>
            <a:endParaRPr lang="en-US"/>
          </a:p>
        </p:txBody>
      </p:sp>
      <p:sp>
        <p:nvSpPr>
          <p:cNvPr id="23" name="Shape 21"/>
          <p:cNvSpPr/>
          <p:nvPr/>
        </p:nvSpPr>
        <p:spPr>
          <a:xfrm>
            <a:off x="9898380" y="2651760"/>
            <a:ext cx="731520" cy="731520"/>
          </a:xfrm>
          <a:prstGeom prst="ellipse">
            <a:avLst/>
          </a:prstGeom>
          <a:solidFill>
            <a:srgbClr val="E8871E"/>
          </a:solidFill>
          <a:ln/>
        </p:spPr>
        <p:txBody>
          <a:bodyPr/>
          <a:lstStyle/>
          <a:p>
            <a:endParaRPr lang="en-US"/>
          </a:p>
        </p:txBody>
      </p:sp>
      <p:sp>
        <p:nvSpPr>
          <p:cNvPr id="24" name="Text 22"/>
          <p:cNvSpPr/>
          <p:nvPr/>
        </p:nvSpPr>
        <p:spPr>
          <a:xfrm>
            <a:off x="9898380" y="2651760"/>
            <a:ext cx="731520" cy="73152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5" name="Text 23"/>
          <p:cNvSpPr/>
          <p:nvPr/>
        </p:nvSpPr>
        <p:spPr>
          <a:xfrm>
            <a:off x="9189720" y="3566160"/>
            <a:ext cx="2148840" cy="777240"/>
          </a:xfrm>
          <a:prstGeom prst="rect">
            <a:avLst/>
          </a:prstGeom>
          <a:noFill/>
          <a:ln/>
        </p:spPr>
        <p:txBody>
          <a:bodyPr wrap="square" rtlCol="0" anchor="ctr"/>
          <a:lstStyle/>
          <a:p>
            <a:pPr marL="0" indent="0" algn="ctr">
              <a:lnSpc>
                <a:spcPct val="100000"/>
              </a:lnSpc>
              <a:buNone/>
            </a:pPr>
            <a:r>
              <a:rPr lang="en-US" sz="1700" b="1" dirty="0">
                <a:solidFill>
                  <a:srgbClr val="222629"/>
                </a:solidFill>
                <a:latin typeface="Cambria" pitchFamily="34" charset="0"/>
                <a:ea typeface="Cambria" pitchFamily="34" charset="-122"/>
                <a:cs typeface="Cambria" pitchFamily="34" charset="-120"/>
              </a:rPr>
              <a:t>Shape Analysis</a:t>
            </a:r>
            <a:endParaRPr lang="en-US" sz="1700" dirty="0"/>
          </a:p>
        </p:txBody>
      </p:sp>
      <p:sp>
        <p:nvSpPr>
          <p:cNvPr id="26" name="Text 24"/>
          <p:cNvSpPr/>
          <p:nvPr/>
        </p:nvSpPr>
        <p:spPr>
          <a:xfrm>
            <a:off x="9235440" y="4343400"/>
            <a:ext cx="2057400" cy="960120"/>
          </a:xfrm>
          <a:prstGeom prst="rect">
            <a:avLst/>
          </a:prstGeom>
          <a:noFill/>
          <a:ln/>
        </p:spPr>
        <p:txBody>
          <a:bodyPr wrap="square" rtlCol="0" anchor="t"/>
          <a:lstStyle/>
          <a:p>
            <a:pPr marL="0" indent="0" algn="ctr">
              <a:lnSpc>
                <a:spcPct val="115000"/>
              </a:lnSpc>
              <a:buNone/>
            </a:pPr>
            <a:r>
              <a:rPr lang="en-US" sz="1300" dirty="0">
                <a:solidFill>
                  <a:srgbClr val="5B6770"/>
                </a:solidFill>
                <a:latin typeface="Calibri" pitchFamily="34" charset="0"/>
                <a:ea typeface="Calibri" pitchFamily="34" charset="-122"/>
                <a:cs typeface="Calibri" pitchFamily="34" charset="-120"/>
              </a:rPr>
              <a:t>Filter contours by area &amp; aspect ratio — real cracks are thin &amp; long</a:t>
            </a:r>
            <a:endParaRPr lang="en-US" sz="1300" dirty="0"/>
          </a:p>
        </p:txBody>
      </p:sp>
      <p:sp>
        <p:nvSpPr>
          <p:cNvPr id="27" name="Text 25"/>
          <p:cNvSpPr/>
          <p:nvPr/>
        </p:nvSpPr>
        <p:spPr>
          <a:xfrm>
            <a:off x="640080" y="5715000"/>
            <a:ext cx="10972800" cy="457200"/>
          </a:xfrm>
          <a:prstGeom prst="rect">
            <a:avLst/>
          </a:prstGeom>
          <a:noFill/>
          <a:ln/>
        </p:spPr>
        <p:txBody>
          <a:bodyPr wrap="square" rtlCol="0" anchor="ctr"/>
          <a:lstStyle/>
          <a:p>
            <a:pPr marL="0" indent="0" algn="ctr">
              <a:buNone/>
            </a:pPr>
            <a:r>
              <a:rPr lang="en-US" sz="1500" i="1" dirty="0">
                <a:solidFill>
                  <a:srgbClr val="B5670F"/>
                </a:solidFill>
                <a:latin typeface="Calibri" pitchFamily="34" charset="0"/>
                <a:ea typeface="Calibri" pitchFamily="34" charset="-122"/>
                <a:cs typeface="Calibri" pitchFamily="34" charset="-120"/>
              </a:rPr>
              <a:t>Output: a binary mask that highlights only genuine cracks.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4F2"/>
        </a:solidFill>
        <a:effectLst/>
      </p:bgPr>
    </p:bg>
    <p:spTree>
      <p:nvGrpSpPr>
        <p:cNvPr id="1" name=""/>
        <p:cNvGrpSpPr/>
        <p:nvPr/>
      </p:nvGrpSpPr>
      <p:grpSpPr>
        <a:xfrm>
          <a:off x="0" y="0"/>
          <a:ext cx="0" cy="0"/>
          <a:chOff x="0" y="0"/>
          <a:chExt cx="0" cy="0"/>
        </a:xfrm>
      </p:grpSpPr>
      <p:sp>
        <p:nvSpPr>
          <p:cNvPr id="2" name="Text 0"/>
          <p:cNvSpPr/>
          <p:nvPr/>
        </p:nvSpPr>
        <p:spPr>
          <a:xfrm>
            <a:off x="640080" y="502920"/>
            <a:ext cx="10972800" cy="731520"/>
          </a:xfrm>
          <a:prstGeom prst="rect">
            <a:avLst/>
          </a:prstGeom>
          <a:noFill/>
          <a:ln/>
        </p:spPr>
        <p:txBody>
          <a:bodyPr wrap="square" rtlCol="0" anchor="ctr"/>
          <a:lstStyle/>
          <a:p>
            <a:pPr marL="0" indent="0">
              <a:buNone/>
            </a:pPr>
            <a:r>
              <a:rPr lang="en-US" sz="3800" b="1" dirty="0">
                <a:solidFill>
                  <a:srgbClr val="222629"/>
                </a:solidFill>
                <a:latin typeface="Cambria" pitchFamily="34" charset="0"/>
                <a:ea typeface="Cambria" pitchFamily="34" charset="-122"/>
                <a:cs typeface="Cambria" pitchFamily="34" charset="-120"/>
              </a:rPr>
              <a:t>Expected Results &amp; Evaluation</a:t>
            </a:r>
            <a:endParaRPr lang="en-US" sz="3800" dirty="0"/>
          </a:p>
        </p:txBody>
      </p:sp>
      <p:sp>
        <p:nvSpPr>
          <p:cNvPr id="3" name="Shape 1"/>
          <p:cNvSpPr/>
          <p:nvPr/>
        </p:nvSpPr>
        <p:spPr>
          <a:xfrm>
            <a:off x="640080" y="1463040"/>
            <a:ext cx="5212080" cy="4023360"/>
          </a:xfrm>
          <a:prstGeom prst="roundRect">
            <a:avLst>
              <a:gd name="adj" fmla="val 1591"/>
            </a:avLst>
          </a:prstGeom>
          <a:solidFill>
            <a:srgbClr val="FFFFFF"/>
          </a:solidFill>
          <a:ln w="12700">
            <a:solidFill>
              <a:srgbClr val="DDDDDD"/>
            </a:solidFill>
            <a:prstDash val="solid"/>
          </a:ln>
        </p:spPr>
        <p:txBody>
          <a:bodyPr/>
          <a:lstStyle/>
          <a:p>
            <a:endParaRPr lang="en-US"/>
          </a:p>
        </p:txBody>
      </p:sp>
      <p:sp>
        <p:nvSpPr>
          <p:cNvPr id="4" name="Text 2"/>
          <p:cNvSpPr/>
          <p:nvPr/>
        </p:nvSpPr>
        <p:spPr>
          <a:xfrm>
            <a:off x="914400" y="1691640"/>
            <a:ext cx="4663440" cy="457200"/>
          </a:xfrm>
          <a:prstGeom prst="rect">
            <a:avLst/>
          </a:prstGeom>
          <a:noFill/>
          <a:ln/>
        </p:spPr>
        <p:txBody>
          <a:bodyPr wrap="square" rtlCol="0" anchor="ctr"/>
          <a:lstStyle/>
          <a:p>
            <a:pPr marL="0" indent="0">
              <a:buNone/>
            </a:pPr>
            <a:r>
              <a:rPr lang="en-US" sz="2200" b="1" dirty="0">
                <a:solidFill>
                  <a:srgbClr val="222629"/>
                </a:solidFill>
                <a:latin typeface="Cambria" pitchFamily="34" charset="0"/>
                <a:ea typeface="Cambria" pitchFamily="34" charset="-122"/>
                <a:cs typeface="Cambria" pitchFamily="34" charset="-120"/>
              </a:rPr>
              <a:t>Expected Output</a:t>
            </a:r>
            <a:endParaRPr lang="en-US" sz="2200" dirty="0"/>
          </a:p>
        </p:txBody>
      </p:sp>
      <p:sp>
        <p:nvSpPr>
          <p:cNvPr id="5" name="Text 3"/>
          <p:cNvSpPr/>
          <p:nvPr/>
        </p:nvSpPr>
        <p:spPr>
          <a:xfrm>
            <a:off x="914400" y="2331720"/>
            <a:ext cx="4663440" cy="2926080"/>
          </a:xfrm>
          <a:prstGeom prst="rect">
            <a:avLst/>
          </a:prstGeom>
          <a:noFill/>
          <a:ln/>
        </p:spPr>
        <p:txBody>
          <a:bodyPr wrap="square" rtlCol="0" anchor="t"/>
          <a:lstStyle/>
          <a:p>
            <a:pPr marL="203200" indent="-203200">
              <a:lnSpc>
                <a:spcPct val="115000"/>
              </a:lnSpc>
              <a:spcAft>
                <a:spcPts val="1600"/>
              </a:spcAft>
              <a:buSzPct val="100000"/>
              <a:buChar char="•"/>
            </a:pPr>
            <a:r>
              <a:rPr lang="en-US" sz="1600" dirty="0">
                <a:solidFill>
                  <a:srgbClr val="222629"/>
                </a:solidFill>
                <a:latin typeface="Calibri" pitchFamily="34" charset="0"/>
                <a:ea typeface="Calibri" pitchFamily="34" charset="-122"/>
                <a:cs typeface="Calibri" pitchFamily="34" charset="-120"/>
              </a:rPr>
              <a:t>Binary mask highlighting only crack lines</a:t>
            </a:r>
            <a:endParaRPr lang="en-US" sz="1600" dirty="0"/>
          </a:p>
          <a:p>
            <a:pPr marL="203200" indent="-203200">
              <a:lnSpc>
                <a:spcPct val="115000"/>
              </a:lnSpc>
              <a:spcAft>
                <a:spcPts val="1600"/>
              </a:spcAft>
              <a:buSzPct val="100000"/>
              <a:buChar char="•"/>
            </a:pPr>
            <a:r>
              <a:rPr lang="en-US" sz="1600" dirty="0">
                <a:solidFill>
                  <a:srgbClr val="222629"/>
                </a:solidFill>
                <a:latin typeface="Calibri" pitchFamily="34" charset="0"/>
                <a:ea typeface="Calibri" pitchFamily="34" charset="-122"/>
                <a:cs typeface="Calibri" pitchFamily="34" charset="-120"/>
              </a:rPr>
              <a:t>Filters out noise from rough texture, pores, and shadows</a:t>
            </a:r>
            <a:endParaRPr lang="en-US" sz="1600" dirty="0"/>
          </a:p>
          <a:p>
            <a:pPr marL="203200" indent="-203200">
              <a:lnSpc>
                <a:spcPct val="115000"/>
              </a:lnSpc>
              <a:spcAft>
                <a:spcPts val="1600"/>
              </a:spcAft>
              <a:buSzPct val="100000"/>
              <a:buChar char="•"/>
            </a:pPr>
            <a:r>
              <a:rPr lang="en-US" sz="1600" dirty="0">
                <a:solidFill>
                  <a:srgbClr val="222629"/>
                </a:solidFill>
                <a:latin typeface="Calibri" pitchFamily="34" charset="0"/>
                <a:ea typeface="Calibri" pitchFamily="34" charset="-122"/>
                <a:cs typeface="Calibri" pitchFamily="34" charset="-120"/>
              </a:rPr>
              <a:t>Works under moderately controlled lighting</a:t>
            </a:r>
            <a:endParaRPr lang="en-US" sz="1600" dirty="0"/>
          </a:p>
        </p:txBody>
      </p:sp>
      <p:sp>
        <p:nvSpPr>
          <p:cNvPr id="6" name="Shape 4"/>
          <p:cNvSpPr/>
          <p:nvPr/>
        </p:nvSpPr>
        <p:spPr>
          <a:xfrm>
            <a:off x="6126480" y="1463040"/>
            <a:ext cx="5394960" cy="4023360"/>
          </a:xfrm>
          <a:prstGeom prst="roundRect">
            <a:avLst>
              <a:gd name="adj" fmla="val 1591"/>
            </a:avLst>
          </a:prstGeom>
          <a:solidFill>
            <a:srgbClr val="2E3338"/>
          </a:solidFill>
          <a:ln/>
        </p:spPr>
        <p:txBody>
          <a:bodyPr/>
          <a:lstStyle/>
          <a:p>
            <a:endParaRPr lang="en-US"/>
          </a:p>
        </p:txBody>
      </p:sp>
      <p:sp>
        <p:nvSpPr>
          <p:cNvPr id="7" name="Text 5"/>
          <p:cNvSpPr/>
          <p:nvPr/>
        </p:nvSpPr>
        <p:spPr>
          <a:xfrm>
            <a:off x="6400800" y="1691640"/>
            <a:ext cx="4846320" cy="457200"/>
          </a:xfrm>
          <a:prstGeom prst="rect">
            <a:avLst/>
          </a:prstGeom>
          <a:noFill/>
          <a:ln/>
        </p:spPr>
        <p:txBody>
          <a:bodyPr wrap="square" rtlCol="0" anchor="ctr"/>
          <a:lstStyle/>
          <a:p>
            <a:pPr marL="0" indent="0">
              <a:buNone/>
            </a:pPr>
            <a:r>
              <a:rPr lang="en-US" sz="2200" b="1" dirty="0">
                <a:solidFill>
                  <a:srgbClr val="E8871E"/>
                </a:solidFill>
                <a:latin typeface="Cambria" pitchFamily="34" charset="0"/>
                <a:ea typeface="Cambria" pitchFamily="34" charset="-122"/>
                <a:cs typeface="Cambria" pitchFamily="34" charset="-120"/>
              </a:rPr>
              <a:t>Pixel-Level Metrics</a:t>
            </a:r>
            <a:endParaRPr lang="en-US" sz="2200" dirty="0"/>
          </a:p>
        </p:txBody>
      </p:sp>
      <p:sp>
        <p:nvSpPr>
          <p:cNvPr id="8" name="Text 6"/>
          <p:cNvSpPr/>
          <p:nvPr/>
        </p:nvSpPr>
        <p:spPr>
          <a:xfrm>
            <a:off x="6400800" y="2240280"/>
            <a:ext cx="4846320" cy="640080"/>
          </a:xfrm>
          <a:prstGeom prst="rect">
            <a:avLst/>
          </a:prstGeom>
          <a:noFill/>
          <a:ln/>
        </p:spPr>
        <p:txBody>
          <a:bodyPr wrap="square" rtlCol="0" anchor="ctr"/>
          <a:lstStyle/>
          <a:p>
            <a:pPr marL="0" indent="0">
              <a:lnSpc>
                <a:spcPct val="110000"/>
              </a:lnSpc>
              <a:buNone/>
            </a:pPr>
            <a:r>
              <a:rPr lang="en-US" sz="1400" i="1" dirty="0">
                <a:solidFill>
                  <a:srgbClr val="CBD1D6"/>
                </a:solidFill>
                <a:latin typeface="Calibri" pitchFamily="34" charset="0"/>
                <a:ea typeface="Calibri" pitchFamily="34" charset="-122"/>
                <a:cs typeface="Calibri" pitchFamily="34" charset="-120"/>
              </a:rPr>
              <a:t>Compare the predicted mask against the ground-truth mask, pixel by pixel.</a:t>
            </a:r>
            <a:endParaRPr lang="en-US" sz="1400" dirty="0"/>
          </a:p>
        </p:txBody>
      </p:sp>
      <p:sp>
        <p:nvSpPr>
          <p:cNvPr id="9" name="Shape 7"/>
          <p:cNvSpPr/>
          <p:nvPr/>
        </p:nvSpPr>
        <p:spPr>
          <a:xfrm>
            <a:off x="6400800" y="3017520"/>
            <a:ext cx="109728" cy="109728"/>
          </a:xfrm>
          <a:prstGeom prst="rect">
            <a:avLst/>
          </a:prstGeom>
          <a:solidFill>
            <a:srgbClr val="E8871E"/>
          </a:solidFill>
          <a:ln/>
        </p:spPr>
        <p:txBody>
          <a:bodyPr/>
          <a:lstStyle/>
          <a:p>
            <a:endParaRPr lang="en-US"/>
          </a:p>
        </p:txBody>
      </p:sp>
      <p:sp>
        <p:nvSpPr>
          <p:cNvPr id="10" name="Text 8"/>
          <p:cNvSpPr/>
          <p:nvPr/>
        </p:nvSpPr>
        <p:spPr>
          <a:xfrm>
            <a:off x="6629400" y="2898648"/>
            <a:ext cx="4663440" cy="685800"/>
          </a:xfrm>
          <a:prstGeom prst="rect">
            <a:avLst/>
          </a:prstGeom>
          <a:noFill/>
          <a:ln/>
        </p:spPr>
        <p:txBody>
          <a:bodyPr wrap="square" rtlCol="0" anchor="t"/>
          <a:lstStyle/>
          <a:p>
            <a:pPr marL="0" indent="0">
              <a:lnSpc>
                <a:spcPct val="110000"/>
              </a:lnSpc>
              <a:buNone/>
            </a:pPr>
            <a:r>
              <a:rPr lang="en-US" sz="1600" b="1" dirty="0">
                <a:solidFill>
                  <a:srgbClr val="FFFFFF"/>
                </a:solidFill>
                <a:latin typeface="Calibri" pitchFamily="34" charset="0"/>
                <a:ea typeface="Calibri" pitchFamily="34" charset="-122"/>
                <a:cs typeface="Calibri" pitchFamily="34" charset="-120"/>
              </a:rPr>
              <a:t>Precision  </a:t>
            </a:r>
            <a:r>
              <a:rPr lang="en-US" sz="1300" dirty="0">
                <a:solidFill>
                  <a:srgbClr val="AEB6BC"/>
                </a:solidFill>
                <a:latin typeface="Calibri" pitchFamily="34" charset="0"/>
                <a:ea typeface="Calibri" pitchFamily="34" charset="-122"/>
                <a:cs typeface="Calibri" pitchFamily="34" charset="-120"/>
              </a:rPr>
              <a:t>Correctly predicted crack pixels — cuts false alarms</a:t>
            </a:r>
            <a:endParaRPr lang="en-US" sz="1600" dirty="0"/>
          </a:p>
        </p:txBody>
      </p:sp>
      <p:sp>
        <p:nvSpPr>
          <p:cNvPr id="11" name="Shape 9"/>
          <p:cNvSpPr/>
          <p:nvPr/>
        </p:nvSpPr>
        <p:spPr>
          <a:xfrm>
            <a:off x="6400800" y="3858768"/>
            <a:ext cx="109728" cy="109728"/>
          </a:xfrm>
          <a:prstGeom prst="rect">
            <a:avLst/>
          </a:prstGeom>
          <a:solidFill>
            <a:srgbClr val="E8871E"/>
          </a:solidFill>
          <a:ln/>
        </p:spPr>
        <p:txBody>
          <a:bodyPr/>
          <a:lstStyle/>
          <a:p>
            <a:endParaRPr lang="en-US"/>
          </a:p>
        </p:txBody>
      </p:sp>
      <p:sp>
        <p:nvSpPr>
          <p:cNvPr id="12" name="Text 10"/>
          <p:cNvSpPr/>
          <p:nvPr/>
        </p:nvSpPr>
        <p:spPr>
          <a:xfrm>
            <a:off x="6629400" y="3739896"/>
            <a:ext cx="4663440" cy="685800"/>
          </a:xfrm>
          <a:prstGeom prst="rect">
            <a:avLst/>
          </a:prstGeom>
          <a:noFill/>
          <a:ln/>
        </p:spPr>
        <p:txBody>
          <a:bodyPr wrap="square" rtlCol="0" anchor="t"/>
          <a:lstStyle/>
          <a:p>
            <a:pPr marL="0" indent="0">
              <a:lnSpc>
                <a:spcPct val="110000"/>
              </a:lnSpc>
              <a:buNone/>
            </a:pPr>
            <a:r>
              <a:rPr lang="en-US" sz="1600" b="1" dirty="0">
                <a:solidFill>
                  <a:srgbClr val="FFFFFF"/>
                </a:solidFill>
                <a:latin typeface="Calibri" pitchFamily="34" charset="0"/>
                <a:ea typeface="Calibri" pitchFamily="34" charset="-122"/>
                <a:cs typeface="Calibri" pitchFamily="34" charset="-120"/>
              </a:rPr>
              <a:t>Recall  </a:t>
            </a:r>
            <a:r>
              <a:rPr lang="en-US" sz="1300" dirty="0">
                <a:solidFill>
                  <a:srgbClr val="AEB6BC"/>
                </a:solidFill>
                <a:latin typeface="Calibri" pitchFamily="34" charset="0"/>
                <a:ea typeface="Calibri" pitchFamily="34" charset="-122"/>
                <a:cs typeface="Calibri" pitchFamily="34" charset="-120"/>
              </a:rPr>
              <a:t>Real crack pixels found — cuts missed cracks</a:t>
            </a:r>
            <a:endParaRPr lang="en-US" sz="1600" dirty="0"/>
          </a:p>
        </p:txBody>
      </p:sp>
      <p:sp>
        <p:nvSpPr>
          <p:cNvPr id="13" name="Shape 11"/>
          <p:cNvSpPr/>
          <p:nvPr/>
        </p:nvSpPr>
        <p:spPr>
          <a:xfrm>
            <a:off x="6400800" y="4700016"/>
            <a:ext cx="109728" cy="109728"/>
          </a:xfrm>
          <a:prstGeom prst="rect">
            <a:avLst/>
          </a:prstGeom>
          <a:solidFill>
            <a:srgbClr val="E8871E"/>
          </a:solidFill>
          <a:ln/>
        </p:spPr>
        <p:txBody>
          <a:bodyPr/>
          <a:lstStyle/>
          <a:p>
            <a:endParaRPr lang="en-US"/>
          </a:p>
        </p:txBody>
      </p:sp>
      <p:sp>
        <p:nvSpPr>
          <p:cNvPr id="14" name="Text 12"/>
          <p:cNvSpPr/>
          <p:nvPr/>
        </p:nvSpPr>
        <p:spPr>
          <a:xfrm>
            <a:off x="6629400" y="4581144"/>
            <a:ext cx="4663440" cy="685800"/>
          </a:xfrm>
          <a:prstGeom prst="rect">
            <a:avLst/>
          </a:prstGeom>
          <a:noFill/>
          <a:ln/>
        </p:spPr>
        <p:txBody>
          <a:bodyPr wrap="square" rtlCol="0" anchor="t"/>
          <a:lstStyle/>
          <a:p>
            <a:pPr marL="0" indent="0">
              <a:lnSpc>
                <a:spcPct val="110000"/>
              </a:lnSpc>
              <a:buNone/>
            </a:pPr>
            <a:r>
              <a:rPr lang="en-US" sz="1600" b="1" dirty="0">
                <a:solidFill>
                  <a:srgbClr val="FFFFFF"/>
                </a:solidFill>
                <a:latin typeface="Calibri" pitchFamily="34" charset="0"/>
                <a:ea typeface="Calibri" pitchFamily="34" charset="-122"/>
                <a:cs typeface="Calibri" pitchFamily="34" charset="-120"/>
              </a:rPr>
              <a:t>IoU &amp; Dice / F1  </a:t>
            </a:r>
            <a:r>
              <a:rPr lang="en-US" sz="1300" dirty="0">
                <a:solidFill>
                  <a:srgbClr val="AEB6BC"/>
                </a:solidFill>
                <a:latin typeface="Calibri" pitchFamily="34" charset="0"/>
                <a:ea typeface="Calibri" pitchFamily="34" charset="-122"/>
                <a:cs typeface="Calibri" pitchFamily="34" charset="-120"/>
              </a:rPr>
              <a:t>Mask overlap — the standard for imbalanced segmentation</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E3338"/>
        </a:solidFill>
        <a:effectLst/>
      </p:bgPr>
    </p:bg>
    <p:spTree>
      <p:nvGrpSpPr>
        <p:cNvPr id="1" name=""/>
        <p:cNvGrpSpPr/>
        <p:nvPr/>
      </p:nvGrpSpPr>
      <p:grpSpPr>
        <a:xfrm>
          <a:off x="0" y="0"/>
          <a:ext cx="0" cy="0"/>
          <a:chOff x="0" y="0"/>
          <a:chExt cx="0" cy="0"/>
        </a:xfrm>
      </p:grpSpPr>
      <p:sp>
        <p:nvSpPr>
          <p:cNvPr id="2" name="Text 0"/>
          <p:cNvSpPr/>
          <p:nvPr/>
        </p:nvSpPr>
        <p:spPr>
          <a:xfrm>
            <a:off x="731520" y="640080"/>
            <a:ext cx="10972800" cy="73152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Future Work</a:t>
            </a:r>
            <a:endParaRPr lang="en-US" sz="4000" dirty="0"/>
          </a:p>
        </p:txBody>
      </p:sp>
      <p:sp>
        <p:nvSpPr>
          <p:cNvPr id="3" name="Text 1"/>
          <p:cNvSpPr/>
          <p:nvPr/>
        </p:nvSpPr>
        <p:spPr>
          <a:xfrm>
            <a:off x="749808" y="1417320"/>
            <a:ext cx="10972800" cy="457200"/>
          </a:xfrm>
          <a:prstGeom prst="rect">
            <a:avLst/>
          </a:prstGeom>
          <a:noFill/>
          <a:ln/>
        </p:spPr>
        <p:txBody>
          <a:bodyPr wrap="square" rtlCol="0" anchor="ctr"/>
          <a:lstStyle/>
          <a:p>
            <a:pPr marL="0" indent="0">
              <a:buNone/>
            </a:pPr>
            <a:r>
              <a:rPr lang="en-US" sz="1800" i="1" dirty="0">
                <a:solidFill>
                  <a:srgbClr val="E8871E"/>
                </a:solidFill>
                <a:latin typeface="Calibri" pitchFamily="34" charset="0"/>
                <a:ea typeface="Calibri" pitchFamily="34" charset="-122"/>
                <a:cs typeface="Calibri" pitchFamily="34" charset="-120"/>
              </a:rPr>
              <a:t>Toward Edge AI &amp; drone-based inspection</a:t>
            </a:r>
            <a:endParaRPr lang="en-US" sz="1800" dirty="0"/>
          </a:p>
        </p:txBody>
      </p:sp>
      <p:sp>
        <p:nvSpPr>
          <p:cNvPr id="4" name="Shape 2"/>
          <p:cNvSpPr/>
          <p:nvPr/>
        </p:nvSpPr>
        <p:spPr>
          <a:xfrm>
            <a:off x="731520" y="2377440"/>
            <a:ext cx="2651760" cy="2011680"/>
          </a:xfrm>
          <a:prstGeom prst="roundRect">
            <a:avLst>
              <a:gd name="adj" fmla="val 3182"/>
            </a:avLst>
          </a:prstGeom>
          <a:solidFill>
            <a:srgbClr val="3A4046"/>
          </a:solidFill>
          <a:ln w="12700">
            <a:solidFill>
              <a:srgbClr val="4E555B"/>
            </a:solidFill>
            <a:prstDash val="solid"/>
          </a:ln>
        </p:spPr>
        <p:txBody>
          <a:bodyPr/>
          <a:lstStyle/>
          <a:p>
            <a:endParaRPr lang="en-US"/>
          </a:p>
        </p:txBody>
      </p:sp>
      <p:sp>
        <p:nvSpPr>
          <p:cNvPr id="5" name="Shape 3"/>
          <p:cNvSpPr/>
          <p:nvPr/>
        </p:nvSpPr>
        <p:spPr>
          <a:xfrm>
            <a:off x="1005840" y="2651760"/>
            <a:ext cx="594360" cy="594360"/>
          </a:xfrm>
          <a:prstGeom prst="ellipse">
            <a:avLst/>
          </a:prstGeom>
          <a:solidFill>
            <a:srgbClr val="E8871E"/>
          </a:solidFill>
          <a:ln/>
        </p:spPr>
        <p:txBody>
          <a:bodyPr/>
          <a:lstStyle/>
          <a:p>
            <a:endParaRPr lang="en-US"/>
          </a:p>
        </p:txBody>
      </p:sp>
      <p:sp>
        <p:nvSpPr>
          <p:cNvPr id="6" name="Text 4"/>
          <p:cNvSpPr/>
          <p:nvPr/>
        </p:nvSpPr>
        <p:spPr>
          <a:xfrm>
            <a:off x="1005840" y="2651760"/>
            <a:ext cx="594360" cy="59436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1005840" y="3337560"/>
            <a:ext cx="2103120" cy="36576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Optimize</a:t>
            </a:r>
            <a:endParaRPr lang="en-US" sz="1800" dirty="0"/>
          </a:p>
        </p:txBody>
      </p:sp>
      <p:sp>
        <p:nvSpPr>
          <p:cNvPr id="8" name="Text 6"/>
          <p:cNvSpPr/>
          <p:nvPr/>
        </p:nvSpPr>
        <p:spPr>
          <a:xfrm>
            <a:off x="1005840" y="3703320"/>
            <a:ext cx="2148840" cy="640080"/>
          </a:xfrm>
          <a:prstGeom prst="rect">
            <a:avLst/>
          </a:prstGeom>
          <a:noFill/>
          <a:ln/>
        </p:spPr>
        <p:txBody>
          <a:bodyPr wrap="square" rtlCol="0" anchor="t"/>
          <a:lstStyle/>
          <a:p>
            <a:pPr marL="0" indent="0">
              <a:lnSpc>
                <a:spcPct val="112000"/>
              </a:lnSpc>
              <a:buNone/>
            </a:pPr>
            <a:r>
              <a:rPr lang="en-US" sz="1250" dirty="0">
                <a:solidFill>
                  <a:srgbClr val="CBD1D6"/>
                </a:solidFill>
                <a:latin typeface="Calibri" pitchFamily="34" charset="0"/>
                <a:ea typeface="Calibri" pitchFamily="34" charset="-122"/>
                <a:cs typeface="Calibri" pitchFamily="34" charset="-120"/>
              </a:rPr>
              <a:t>Make the algorithm lightweight enough to run on small boards</a:t>
            </a:r>
            <a:endParaRPr lang="en-US" sz="1250" dirty="0"/>
          </a:p>
        </p:txBody>
      </p:sp>
      <p:sp>
        <p:nvSpPr>
          <p:cNvPr id="9" name="Shape 7"/>
          <p:cNvSpPr/>
          <p:nvPr/>
        </p:nvSpPr>
        <p:spPr>
          <a:xfrm>
            <a:off x="3566160" y="2377440"/>
            <a:ext cx="2651760" cy="2011680"/>
          </a:xfrm>
          <a:prstGeom prst="roundRect">
            <a:avLst>
              <a:gd name="adj" fmla="val 3182"/>
            </a:avLst>
          </a:prstGeom>
          <a:solidFill>
            <a:srgbClr val="3A4046"/>
          </a:solidFill>
          <a:ln w="12700">
            <a:solidFill>
              <a:srgbClr val="4E555B"/>
            </a:solidFill>
            <a:prstDash val="solid"/>
          </a:ln>
        </p:spPr>
        <p:txBody>
          <a:bodyPr/>
          <a:lstStyle/>
          <a:p>
            <a:endParaRPr lang="en-US"/>
          </a:p>
        </p:txBody>
      </p:sp>
      <p:sp>
        <p:nvSpPr>
          <p:cNvPr id="10" name="Shape 8"/>
          <p:cNvSpPr/>
          <p:nvPr/>
        </p:nvSpPr>
        <p:spPr>
          <a:xfrm>
            <a:off x="3840480" y="2651760"/>
            <a:ext cx="594360" cy="594360"/>
          </a:xfrm>
          <a:prstGeom prst="ellipse">
            <a:avLst/>
          </a:prstGeom>
          <a:solidFill>
            <a:srgbClr val="E8871E"/>
          </a:solidFill>
          <a:ln/>
        </p:spPr>
        <p:txBody>
          <a:bodyPr/>
          <a:lstStyle/>
          <a:p>
            <a:endParaRPr lang="en-US"/>
          </a:p>
        </p:txBody>
      </p:sp>
      <p:sp>
        <p:nvSpPr>
          <p:cNvPr id="11" name="Text 9"/>
          <p:cNvSpPr/>
          <p:nvPr/>
        </p:nvSpPr>
        <p:spPr>
          <a:xfrm>
            <a:off x="3840480" y="2651760"/>
            <a:ext cx="594360" cy="59436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10"/>
          <p:cNvSpPr/>
          <p:nvPr/>
        </p:nvSpPr>
        <p:spPr>
          <a:xfrm>
            <a:off x="3840480" y="3337560"/>
            <a:ext cx="2103120" cy="36576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Embed</a:t>
            </a:r>
            <a:endParaRPr lang="en-US" sz="1800" dirty="0"/>
          </a:p>
        </p:txBody>
      </p:sp>
      <p:sp>
        <p:nvSpPr>
          <p:cNvPr id="13" name="Text 11"/>
          <p:cNvSpPr/>
          <p:nvPr/>
        </p:nvSpPr>
        <p:spPr>
          <a:xfrm>
            <a:off x="3840480" y="3703320"/>
            <a:ext cx="2148840" cy="640080"/>
          </a:xfrm>
          <a:prstGeom prst="rect">
            <a:avLst/>
          </a:prstGeom>
          <a:noFill/>
          <a:ln/>
        </p:spPr>
        <p:txBody>
          <a:bodyPr wrap="square" rtlCol="0" anchor="t"/>
          <a:lstStyle/>
          <a:p>
            <a:pPr marL="0" indent="0">
              <a:lnSpc>
                <a:spcPct val="112000"/>
              </a:lnSpc>
              <a:buNone/>
            </a:pPr>
            <a:r>
              <a:rPr lang="en-US" sz="1250" dirty="0">
                <a:solidFill>
                  <a:srgbClr val="CBD1D6"/>
                </a:solidFill>
                <a:latin typeface="Calibri" pitchFamily="34" charset="0"/>
                <a:ea typeface="Calibri" pitchFamily="34" charset="-122"/>
                <a:cs typeface="Calibri" pitchFamily="34" charset="-120"/>
              </a:rPr>
              <a:t>Deploy on ESP32, STM32 or FPGA hardware</a:t>
            </a:r>
            <a:endParaRPr lang="en-US" sz="1250" dirty="0"/>
          </a:p>
        </p:txBody>
      </p:sp>
      <p:sp>
        <p:nvSpPr>
          <p:cNvPr id="14" name="Shape 12"/>
          <p:cNvSpPr/>
          <p:nvPr/>
        </p:nvSpPr>
        <p:spPr>
          <a:xfrm>
            <a:off x="6400800" y="2377440"/>
            <a:ext cx="2651760" cy="2011680"/>
          </a:xfrm>
          <a:prstGeom prst="roundRect">
            <a:avLst>
              <a:gd name="adj" fmla="val 3182"/>
            </a:avLst>
          </a:prstGeom>
          <a:solidFill>
            <a:srgbClr val="3A4046"/>
          </a:solidFill>
          <a:ln w="12700">
            <a:solidFill>
              <a:srgbClr val="4E555B"/>
            </a:solidFill>
            <a:prstDash val="solid"/>
          </a:ln>
        </p:spPr>
        <p:txBody>
          <a:bodyPr/>
          <a:lstStyle/>
          <a:p>
            <a:endParaRPr lang="en-US"/>
          </a:p>
        </p:txBody>
      </p:sp>
      <p:sp>
        <p:nvSpPr>
          <p:cNvPr id="15" name="Shape 13"/>
          <p:cNvSpPr/>
          <p:nvPr/>
        </p:nvSpPr>
        <p:spPr>
          <a:xfrm>
            <a:off x="6675120" y="2651760"/>
            <a:ext cx="594360" cy="594360"/>
          </a:xfrm>
          <a:prstGeom prst="ellipse">
            <a:avLst/>
          </a:prstGeom>
          <a:solidFill>
            <a:srgbClr val="E8871E"/>
          </a:solidFill>
          <a:ln/>
        </p:spPr>
        <p:txBody>
          <a:bodyPr/>
          <a:lstStyle/>
          <a:p>
            <a:endParaRPr lang="en-US"/>
          </a:p>
        </p:txBody>
      </p:sp>
      <p:sp>
        <p:nvSpPr>
          <p:cNvPr id="16" name="Text 14"/>
          <p:cNvSpPr/>
          <p:nvPr/>
        </p:nvSpPr>
        <p:spPr>
          <a:xfrm>
            <a:off x="6675120" y="2651760"/>
            <a:ext cx="594360" cy="59436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7" name="Text 15"/>
          <p:cNvSpPr/>
          <p:nvPr/>
        </p:nvSpPr>
        <p:spPr>
          <a:xfrm>
            <a:off x="6675120" y="3337560"/>
            <a:ext cx="2103120" cy="36576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Fly</a:t>
            </a:r>
            <a:endParaRPr lang="en-US" sz="1800" dirty="0"/>
          </a:p>
        </p:txBody>
      </p:sp>
      <p:sp>
        <p:nvSpPr>
          <p:cNvPr id="18" name="Text 16"/>
          <p:cNvSpPr/>
          <p:nvPr/>
        </p:nvSpPr>
        <p:spPr>
          <a:xfrm>
            <a:off x="6675120" y="3703320"/>
            <a:ext cx="2148840" cy="640080"/>
          </a:xfrm>
          <a:prstGeom prst="rect">
            <a:avLst/>
          </a:prstGeom>
          <a:noFill/>
          <a:ln/>
        </p:spPr>
        <p:txBody>
          <a:bodyPr wrap="square" rtlCol="0" anchor="t"/>
          <a:lstStyle/>
          <a:p>
            <a:pPr marL="0" indent="0">
              <a:lnSpc>
                <a:spcPct val="112000"/>
              </a:lnSpc>
              <a:buNone/>
            </a:pPr>
            <a:r>
              <a:rPr lang="en-US" sz="1250" dirty="0">
                <a:solidFill>
                  <a:srgbClr val="CBD1D6"/>
                </a:solidFill>
                <a:latin typeface="Calibri" pitchFamily="34" charset="0"/>
                <a:ea typeface="Calibri" pitchFamily="34" charset="-122"/>
                <a:cs typeface="Calibri" pitchFamily="34" charset="-120"/>
              </a:rPr>
              <a:t>Mount on inspection drones for façades and under-bridge gaps</a:t>
            </a:r>
            <a:endParaRPr lang="en-US" sz="1250" dirty="0"/>
          </a:p>
        </p:txBody>
      </p:sp>
      <p:sp>
        <p:nvSpPr>
          <p:cNvPr id="19" name="Shape 17"/>
          <p:cNvSpPr/>
          <p:nvPr/>
        </p:nvSpPr>
        <p:spPr>
          <a:xfrm>
            <a:off x="9235440" y="2377440"/>
            <a:ext cx="2651760" cy="2011680"/>
          </a:xfrm>
          <a:prstGeom prst="roundRect">
            <a:avLst>
              <a:gd name="adj" fmla="val 3182"/>
            </a:avLst>
          </a:prstGeom>
          <a:solidFill>
            <a:srgbClr val="3A4046"/>
          </a:solidFill>
          <a:ln w="12700">
            <a:solidFill>
              <a:srgbClr val="4E555B"/>
            </a:solidFill>
            <a:prstDash val="solid"/>
          </a:ln>
        </p:spPr>
        <p:txBody>
          <a:bodyPr/>
          <a:lstStyle/>
          <a:p>
            <a:endParaRPr lang="en-US"/>
          </a:p>
        </p:txBody>
      </p:sp>
      <p:sp>
        <p:nvSpPr>
          <p:cNvPr id="20" name="Shape 18"/>
          <p:cNvSpPr/>
          <p:nvPr/>
        </p:nvSpPr>
        <p:spPr>
          <a:xfrm>
            <a:off x="9509760" y="2651760"/>
            <a:ext cx="594360" cy="594360"/>
          </a:xfrm>
          <a:prstGeom prst="ellipse">
            <a:avLst/>
          </a:prstGeom>
          <a:solidFill>
            <a:srgbClr val="E8871E"/>
          </a:solidFill>
          <a:ln/>
        </p:spPr>
        <p:txBody>
          <a:bodyPr/>
          <a:lstStyle/>
          <a:p>
            <a:endParaRPr lang="en-US"/>
          </a:p>
        </p:txBody>
      </p:sp>
      <p:sp>
        <p:nvSpPr>
          <p:cNvPr id="21" name="Text 19"/>
          <p:cNvSpPr/>
          <p:nvPr/>
        </p:nvSpPr>
        <p:spPr>
          <a:xfrm>
            <a:off x="9509760" y="2651760"/>
            <a:ext cx="594360" cy="59436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2" name="Text 20"/>
          <p:cNvSpPr/>
          <p:nvPr/>
        </p:nvSpPr>
        <p:spPr>
          <a:xfrm>
            <a:off x="9509760" y="3337560"/>
            <a:ext cx="2103120" cy="36576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Alert</a:t>
            </a:r>
            <a:endParaRPr lang="en-US" sz="1800" dirty="0"/>
          </a:p>
        </p:txBody>
      </p:sp>
      <p:sp>
        <p:nvSpPr>
          <p:cNvPr id="23" name="Text 21"/>
          <p:cNvSpPr/>
          <p:nvPr/>
        </p:nvSpPr>
        <p:spPr>
          <a:xfrm>
            <a:off x="9509760" y="3703320"/>
            <a:ext cx="2148840" cy="640080"/>
          </a:xfrm>
          <a:prstGeom prst="rect">
            <a:avLst/>
          </a:prstGeom>
          <a:noFill/>
          <a:ln/>
        </p:spPr>
        <p:txBody>
          <a:bodyPr wrap="square" rtlCol="0" anchor="t"/>
          <a:lstStyle/>
          <a:p>
            <a:pPr marL="0" indent="0">
              <a:lnSpc>
                <a:spcPct val="112000"/>
              </a:lnSpc>
              <a:buNone/>
            </a:pPr>
            <a:r>
              <a:rPr lang="en-US" sz="1250" dirty="0">
                <a:solidFill>
                  <a:srgbClr val="CBD1D6"/>
                </a:solidFill>
                <a:latin typeface="Calibri" pitchFamily="34" charset="0"/>
                <a:ea typeface="Calibri" pitchFamily="34" charset="-122"/>
                <a:cs typeface="Calibri" pitchFamily="34" charset="-120"/>
              </a:rPr>
              <a:t>Send crack alerts with location back to a central system</a:t>
            </a:r>
            <a:endParaRPr lang="en-US" sz="1250" dirty="0"/>
          </a:p>
        </p:txBody>
      </p:sp>
      <p:sp>
        <p:nvSpPr>
          <p:cNvPr id="24" name="Text 22"/>
          <p:cNvSpPr/>
          <p:nvPr/>
        </p:nvSpPr>
        <p:spPr>
          <a:xfrm>
            <a:off x="731520" y="5120640"/>
            <a:ext cx="10698480" cy="82296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Thank you</a:t>
            </a:r>
            <a:endParaRPr lang="en-US" sz="3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98</TotalTime>
  <Words>832</Words>
  <Application>Microsoft Office PowerPoint</Application>
  <PresentationFormat>Widescreen</PresentationFormat>
  <Paragraphs>74</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KASIDID PUANGTO</cp:lastModifiedBy>
  <cp:revision>2</cp:revision>
  <dcterms:created xsi:type="dcterms:W3CDTF">2026-08-20T06:30:43Z</dcterms:created>
  <dcterms:modified xsi:type="dcterms:W3CDTF">2026-08-23T04:50:32Z</dcterms:modified>
</cp:coreProperties>
</file>